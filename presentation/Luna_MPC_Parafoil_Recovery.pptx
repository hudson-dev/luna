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rgbClr val="10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8D6"/>
                </a:solidFill>
                <a:latin typeface="Verdana"/>
              </a:rPr>
              <a:t>MODEL PREDICTIVE CONTROL · GNC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63093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2F6FA"/>
                </a:solidFill>
                <a:latin typeface="Verdana"/>
              </a:rPr>
              <a:t>Guided Parafoil
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069080"/>
            <a:ext cx="1371600" cy="4114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6035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BB0C4"/>
                </a:solidFill>
                <a:latin typeface="Verdana"/>
              </a:rPr>
              <a:t>An MPC-based guidance and control stack that steers a deployed parafoil back to the launch pad under real wind — and a simpler fallback that flies when the optimiser cannot.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BB0C4"/>
                </a:solidFill>
                <a:latin typeface="Verdana"/>
              </a:rPr>
              <a:t>Project Luna  ·  Rocketry GNC  ·  Technical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488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5C8D6"/>
                </a:solidFill>
                <a:latin typeface="Verdana"/>
              </a:rPr>
              <a:t>6-DOF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Verdana"/>
              </a:rPr>
              <a:t>simulator + LTV-QP MPC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2004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5C8D6"/>
                </a:solidFill>
                <a:latin typeface="Verdana"/>
              </a:rPr>
              <a:t>2 tracks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Verdana"/>
              </a:rPr>
              <a:t>primary MPC · fallback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251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5C8D6"/>
                </a:solidFill>
                <a:latin typeface="Verdana"/>
              </a:rPr>
              <a:t>OSQP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Verdana"/>
              </a:rPr>
              <a:t>embedded solver target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Bring the vehicle home, predictably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2F6FA"/>
                </a:solidFill>
                <a:latin typeface="Verdana"/>
              </a:rPr>
              <a:t>Develop an autonomous guided parafoil recovery system for a rocketry team: steer the deployed parafoil back to the launch pad under real-world wind disturbances.</a:t>
            </a:r>
          </a:p>
          <a:p>
            <a:pPr algn="l">
              <a:lnSpc>
                <a:spcPct val="145000"/>
              </a:lnSpc>
              <a:spcBef>
                <a:spcPts val="1400"/>
              </a:spcBef>
              <a:spcAft>
                <a:spcPts val="0"/>
              </a:spcAft>
            </a:pPr>
            <a:r>
              <a:rPr sz="1500" b="0" i="0">
                <a:solidFill>
                  <a:srgbClr val="9BB0C4"/>
                </a:solidFill>
                <a:latin typeface="Verdana"/>
              </a:rPr>
              <a:t>The project spans GNC algorithm development, mechanical and actuator design, and eventual deployment on flight hardware.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783080"/>
            <a:ext cx="4480560" cy="1379982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1783080"/>
            <a:ext cx="50292" cy="137998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33488" y="2093976"/>
            <a:ext cx="3794760" cy="8313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C8D6"/>
                </a:solidFill>
                <a:latin typeface="Verdana"/>
              </a:rPr>
              <a:t>Theoretical rigor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A simulation-validated MPC-based guidance and control stack.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3483102"/>
            <a:ext cx="4480560" cy="1586357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3483102"/>
            <a:ext cx="50292" cy="1586357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3793998"/>
            <a:ext cx="3794760" cy="10377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A93B"/>
                </a:solidFill>
                <a:latin typeface="Verdana"/>
              </a:rPr>
              <a:t>Practical trustworthiness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A system that behaves predictably on real flight hardware — and fails gracefully when it does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5C8D6"/>
                </a:solidFill>
                <a:latin typeface="Verdana"/>
              </a:rPr>
              <a:t>These are treated as distinct engineering goals requiring different design choices — not two labels for the same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Two parallel tracks, deliberately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BB0C4"/>
                </a:solidFill>
                <a:latin typeface="Verdana"/>
              </a:rPr>
              <a:t>A higher-fidelity primary approach and a simpler, more robust fallback are maintained at the same time. Neither blocks the other.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06040"/>
            <a:ext cx="5212080" cy="2990977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50292" cy="2990977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916936"/>
            <a:ext cx="4526280" cy="24423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5C8D6"/>
                </a:solidFill>
                <a:latin typeface="Verdana"/>
              </a:rPr>
              <a:t>Track A — Primary: MPC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Nonlinear receding-horizon optimisation over the parafoil model.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Highest performance and the research vehicle for the project.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Carries solver, compute, and tuning risk onto flight hardware.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Validated first in a 6-DOF Python simulator.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606040"/>
            <a:ext cx="4983480" cy="2990977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2606040"/>
            <a:ext cx="50292" cy="2990977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2916936"/>
            <a:ext cx="4297680" cy="24423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A93B"/>
                </a:solidFill>
                <a:latin typeface="Verdana"/>
              </a:rPr>
              <a:t>Track B — Fallback: phased waypoint guidance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Deterministic guidance law, no optimiser in the loop.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The reliable option for flight hardware.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Predictable failure behaviour and trivially auditable.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Developed in parallel, not as a post-hoc backup.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1337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5C8D6"/>
                </a:solidFill>
                <a:latin typeface="Verdana"/>
              </a:rPr>
              <a:t>Rule of thumb: the track that flies is the one you can explain to the range safety officer.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Technical domains in 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75688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1965960"/>
            <a:ext cx="92720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Model predictive control and trajectory optimisation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Receding-horizon formulation, constraints, solver selection.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80233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770505"/>
            <a:ext cx="92720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Guidance law design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Phased waypoint guidance as the robust flight-hardware path.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84778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575050"/>
            <a:ext cx="92720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Wind estimation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Recovering the disturbance the controller is fighting.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89323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379595"/>
            <a:ext cx="92720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Parafoil flight modelling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Kinematic and dynamic models, up to 6-DOF with apparent mass.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293868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5184140"/>
            <a:ext cx="92720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Actuator and mechanical design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Servo and brake/control-line system, shock-load protection.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The closed loop,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1938528" cy="141732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01168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5C8D6"/>
                </a:solidFill>
                <a:latin typeface="Verdana"/>
              </a:rPr>
              <a:t>Sensing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9BB0C4"/>
                </a:solidFill>
                <a:latin typeface="Verdana"/>
              </a:rPr>
              <a:t>GPS, baro,
IMU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1938528" cy="5029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2770632" y="2743200"/>
            <a:ext cx="146304" cy="201168"/>
          </a:xfrm>
          <a:prstGeom prst="triangle">
            <a:avLst/>
          </a:prstGeom>
          <a:solidFill>
            <a:srgbClr val="274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1800" y="2148840"/>
            <a:ext cx="1938528" cy="141732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01168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5C8D6"/>
                </a:solidFill>
                <a:latin typeface="Verdana"/>
              </a:rPr>
              <a:t>Estimation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9BB0C4"/>
                </a:solidFill>
                <a:latin typeface="Verdana"/>
              </a:rPr>
              <a:t>State +
wind estimate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2148840"/>
            <a:ext cx="1938528" cy="5029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4965192" y="2743200"/>
            <a:ext cx="146304" cy="201168"/>
          </a:xfrm>
          <a:prstGeom prst="triangle">
            <a:avLst/>
          </a:prstGeom>
          <a:solidFill>
            <a:srgbClr val="274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6360" y="2148840"/>
            <a:ext cx="1938528" cy="141732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01168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5C8D6"/>
                </a:solidFill>
                <a:latin typeface="Verdana"/>
              </a:rPr>
              <a:t>Guidance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9BB0C4"/>
                </a:solidFill>
                <a:latin typeface="Verdana"/>
              </a:rPr>
              <a:t>Target /
reference 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2148840"/>
            <a:ext cx="1938528" cy="5029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7159752" y="2743200"/>
            <a:ext cx="146304" cy="201168"/>
          </a:xfrm>
          <a:prstGeom prst="triangle">
            <a:avLst/>
          </a:prstGeom>
          <a:solidFill>
            <a:srgbClr val="274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2148840"/>
            <a:ext cx="1938528" cy="141732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01168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Verdana"/>
              </a:rPr>
              <a:t>Control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9BB0C4"/>
                </a:solidFill>
                <a:latin typeface="Verdana"/>
              </a:rPr>
              <a:t>MPC or
waypoint law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148840"/>
            <a:ext cx="1938528" cy="502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9354312" y="2743200"/>
            <a:ext cx="146304" cy="201168"/>
          </a:xfrm>
          <a:prstGeom prst="triangle">
            <a:avLst/>
          </a:prstGeom>
          <a:solidFill>
            <a:srgbClr val="274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2148840"/>
            <a:ext cx="1938528" cy="141732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01168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5C8D6"/>
                </a:solidFill>
                <a:latin typeface="Verdana"/>
              </a:rPr>
              <a:t>Actuation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9BB0C4"/>
                </a:solidFill>
                <a:latin typeface="Verdana"/>
              </a:rPr>
              <a:t>Brake-line
servo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5480" y="2148840"/>
            <a:ext cx="1938528" cy="5029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977639"/>
            <a:ext cx="10634472" cy="27432"/>
          </a:xfrm>
          <a:prstGeom prst="rect">
            <a:avLst/>
          </a:prstGeom>
          <a:solidFill>
            <a:srgbClr val="274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5C8D6"/>
                </a:solidFill>
                <a:latin typeface="Verdana"/>
              </a:rPr>
              <a:t>Feedback closes the loop every timestep — the plan is recomputed, not replayed.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754880"/>
            <a:ext cx="5212080" cy="1379982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54880"/>
            <a:ext cx="50292" cy="137998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5065776"/>
            <a:ext cx="4526280" cy="8313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C8D6"/>
                </a:solidFill>
                <a:latin typeface="Verdana"/>
              </a:rPr>
              <a:t>Plant model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Parafoil dynamics integrated with a fixed-step RK4 scheme, driven by a wind model.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754880"/>
            <a:ext cx="4983480" cy="1379982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754880"/>
            <a:ext cx="50292" cy="137998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5065776"/>
            <a:ext cx="4297680" cy="8313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A93B"/>
                </a:solidFill>
                <a:latin typeface="Verdana"/>
              </a:rPr>
              <a:t>Validation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Closed-loop simulation across calm, steady-wind, shear/turbulence, and gust scenarios.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241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2F6FA"/>
                </a:solidFill>
                <a:latin typeface="Verdana"/>
              </a:rPr>
              <a:t>MPC's practical robustness comes from receding-horizon feedback on measured state — not from model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77639"/>
            <a:ext cx="1371600" cy="4114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0"/>
            <a:ext cx="9875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BB0C4"/>
                </a:solidFill>
                <a:latin typeface="Verdana"/>
              </a:rPr>
              <a:t>This reframes where effort belongs. Chasing model fidelity has diminishing returns; guaranteeing that the loop re-solves on fresh state, on time, every timestep, does not. It also explains why a coarse model plus fast feedback beats a beautiful model solved too slowly to matter.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CURRENT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MPC formulation as it stands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1920240"/>
            <a:ext cx="57058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Nonlinear receding-horizon optimal control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Re-solved each timestep from the current measured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93339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983611"/>
            <a:ext cx="57058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MATLAB `fmincon` with SQP as the solver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Accurate, flexible with nonlinear constraints, and compute-hungry.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156710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4046982"/>
            <a:ext cx="57058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Custom fixed-step RK4 prediction model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Deterministic step cost, which matters for embedded budgeting.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220081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5110353"/>
            <a:ext cx="57058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Wind disturbance model in the loop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The controller is evaluated against the disturbance it must reject.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874519"/>
            <a:ext cx="4251960" cy="3166871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874519"/>
            <a:ext cx="50292" cy="3166871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2185415"/>
            <a:ext cx="3566160" cy="26182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A93B"/>
                </a:solidFill>
                <a:latin typeface="Verdana"/>
              </a:rPr>
              <a:t>Why this is a development-only choice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`fmincon`/SQP iterates linearise → solve → step until convergence.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Iteration count is data-dependent, so worst-case runtime is not bounded.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A flight computer needs a hard per-timestep compute budget.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So: excellent as ground truth, unusable as flight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Wind estimation: the bias killer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BB0C4"/>
                </a:solidFill>
                <a:latin typeface="Verdana"/>
              </a:rPr>
              <a:t>Active in the system today. The estimate is formed from the difference between GPS ground velocity and predicted air velocity, then low-pass filtered.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88920"/>
            <a:ext cx="2560320" cy="160020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788920"/>
            <a:ext cx="2560320" cy="5029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C8D6"/>
                </a:solidFill>
                <a:latin typeface="Verdana"/>
              </a:rPr>
              <a:t>GPS ground velocity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 i="0">
                <a:solidFill>
                  <a:srgbClr val="9BB0C4"/>
                </a:solidFill>
                <a:latin typeface="Verdana"/>
              </a:rPr>
              <a:t>Measured inertial velocity of the vehicle.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8" y="2788920"/>
            <a:ext cx="2560320" cy="160020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288" y="2788920"/>
            <a:ext cx="2560320" cy="5029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306324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C8D6"/>
                </a:solidFill>
                <a:latin typeface="Verdana"/>
              </a:rPr>
              <a:t>− predicted air velocity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 i="0">
                <a:solidFill>
                  <a:srgbClr val="9BB0C4"/>
                </a:solidFill>
                <a:latin typeface="Verdana"/>
              </a:rPr>
              <a:t>What the model says the vehicle should be doing.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7336" y="2788920"/>
            <a:ext cx="2560320" cy="160020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7336" y="2788920"/>
            <a:ext cx="2560320" cy="5029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306324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C8D6"/>
                </a:solidFill>
                <a:latin typeface="Verdana"/>
              </a:rPr>
              <a:t>→ low-pass filter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 i="0">
                <a:solidFill>
                  <a:srgbClr val="9BB0C4"/>
                </a:solidFill>
                <a:latin typeface="Verdana"/>
              </a:rPr>
              <a:t>Reject gust-scale noise, keep the persistent component.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87384" y="2788920"/>
            <a:ext cx="2560320" cy="160020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7384" y="2788920"/>
            <a:ext cx="2560320" cy="502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06324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2A93B"/>
                </a:solidFill>
                <a:latin typeface="Verdana"/>
              </a:rPr>
              <a:t>→ wind estimate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 i="0">
                <a:solidFill>
                  <a:srgbClr val="9BB0C4"/>
                </a:solidFill>
                <a:latin typeface="Verdana"/>
              </a:rPr>
              <a:t>Fed back into prediction so the plan stops drifting.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2F6FA"/>
                </a:solidFill>
                <a:latin typeface="Verdana"/>
              </a:rPr>
              <a:t>The filter is the design decision. Too fast and the controller chases turbulence it cannot beat; too slow and a real wind shift is absorbed as steady-state error. Wind is the dominant disturbance, so this single estimator removes the largest source of persistent miss distance.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FAILURE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Three MPC failure modes — and the fix for each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65960"/>
          <a:ext cx="10637213" cy="3255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9303"/>
                <a:gridCol w="4178905"/>
                <a:gridCol w="379900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1D33"/>
                          </a:solidFill>
                          <a:latin typeface="Verdana"/>
                        </a:rPr>
                        <a:t>Failure mode</a:t>
                      </a:r>
                    </a:p>
                  </a:txBody>
                  <a:tcPr anchor="ctr" marL="146304" marR="146304" marT="54864" marB="54864">
                    <a:solidFill>
                      <a:srgbClr val="35C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1D33"/>
                          </a:solidFill>
                          <a:latin typeface="Verdana"/>
                        </a:rPr>
                        <a:t>What goes wrong</a:t>
                      </a:r>
                    </a:p>
                  </a:txBody>
                  <a:tcPr anchor="ctr" marL="146304" marR="146304" marT="54864" marB="54864">
                    <a:solidFill>
                      <a:srgbClr val="35C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1D33"/>
                          </a:solidFill>
                          <a:latin typeface="Verdana"/>
                        </a:rPr>
                        <a:t>Mitigation</a:t>
                      </a:r>
                    </a:p>
                  </a:txBody>
                  <a:tcPr anchor="ctr" marL="146304" marR="146304" marT="54864" marB="54864">
                    <a:solidFill>
                      <a:srgbClr val="35C8D6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6FA"/>
                          </a:solidFill>
                          <a:latin typeface="Verdana"/>
                        </a:rPr>
                        <a:t>Persistent bias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Unmodelled steady wind pushes the vehicle off target every step.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Wind estimator feeding the prediction model.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6FA"/>
                          </a:solidFill>
                          <a:latin typeface="Verdana"/>
                        </a:rPr>
                        <a:t>Constraint violation
under disturbance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A nominally feasible plan becomes infeasible once disturbed.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Constraint margin, or tube MPC for a guaranteed envelope.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6FA"/>
                          </a:solidFill>
                          <a:latin typeface="Verdana"/>
                        </a:rPr>
                        <a:t>Terminal-phase
model reliance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Near the ground, model error matters most and horizon shrinks.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Sensor-triggered flare instead of model-based prediction.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394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5C8D6"/>
                </a:solidFill>
                <a:latin typeface="Verdana"/>
              </a:rPr>
              <a:t>Each mitigation trades optimality for predictability — and each one is cheap compared with the failure it prevents.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CORE TRADEOFF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SQP versus LTV-QP for flight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74519"/>
          <a:ext cx="10637213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1512"/>
                <a:gridCol w="4121920"/>
                <a:gridCol w="4653781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1D33"/>
                          </a:solidFill>
                          <a:latin typeface="Verdana"/>
                        </a:rPr>
                        <a:t/>
                      </a:r>
                    </a:p>
                  </a:txBody>
                  <a:tcPr anchor="ctr" marL="146304" marR="146304" marT="54864" marB="54864">
                    <a:solidFill>
                      <a:srgbClr val="35C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1D33"/>
                          </a:solidFill>
                          <a:latin typeface="Verdana"/>
                        </a:rPr>
                        <a:t>SQP (`fmincon`)</a:t>
                      </a:r>
                    </a:p>
                  </a:txBody>
                  <a:tcPr anchor="ctr" marL="146304" marR="146304" marT="54864" marB="54864">
                    <a:solidFill>
                      <a:srgbClr val="35C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1D33"/>
                          </a:solidFill>
                          <a:latin typeface="Verdana"/>
                        </a:rPr>
                        <a:t>LTV-QP + OSQP</a:t>
                      </a:r>
                    </a:p>
                  </a:txBody>
                  <a:tcPr anchor="ctr" marL="146304" marR="146304" marT="54864" marB="54864">
                    <a:solidFill>
                      <a:srgbClr val="35C8D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6FA"/>
                          </a:solidFill>
                          <a:latin typeface="Verdana"/>
                        </a:rPr>
                        <a:t>Method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Iterate linearise → solve → step until convergence.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Linearise once per timestep along a reference, solve one QP.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6FA"/>
                          </a:solidFill>
                          <a:latin typeface="Verdana"/>
                        </a:rPr>
                        <a:t>Accuracy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Higher — handles the nonlinearity directly.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Lower, but sufficient with a good reference trajectory.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6FA"/>
                          </a:solidFill>
                          <a:latin typeface="Verdana"/>
                        </a:rPr>
                        <a:t>Compute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Data-dependent iteration count; no hard bound.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One bounded QP solve per timestep.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6FA"/>
                          </a:solidFill>
                          <a:latin typeface="Verdana"/>
                        </a:rPr>
                        <a:t>Verdict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Development and ground-truth reference.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9BB0C4"/>
                          </a:solidFill>
                          <a:latin typeface="Verdana"/>
                        </a:rPr>
                        <a:t>Preferred embedded formulation for flight hardware.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440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5C8D6"/>
                </a:solidFill>
                <a:latin typeface="Verdana"/>
              </a:rPr>
              <a:t>The migration is driven by compute and reliability constraints, not by control performance. Bounded worst-case runtime is itself a safety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TRACK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Phased waypoint guidance: the option that flies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75688"/>
            <a:ext cx="118872" cy="11887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1965960"/>
            <a:ext cx="57972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No optimiser in the flight loop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Behaviour is a direct function of state — inspectable line by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157347"/>
            <a:ext cx="118872" cy="11887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047619"/>
            <a:ext cx="57972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Phased structure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Distinct approach phases replace a single global optimisation.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239006"/>
            <a:ext cx="118872" cy="11887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4129278"/>
            <a:ext cx="57972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Developed in parallel, on purpose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It is the intended flight-hardware path, not a contingency bolted on late.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320665"/>
            <a:ext cx="118872" cy="11887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5210937"/>
            <a:ext cx="57972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Shares the same estimator and actuator stack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Wind estimate and brake-line control are common to both tracks.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874519"/>
            <a:ext cx="4251960" cy="2615057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874519"/>
            <a:ext cx="50292" cy="2615057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2185415"/>
            <a:ext cx="3566160" cy="20664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A93B"/>
                </a:solidFill>
                <a:latin typeface="Verdana"/>
              </a:rPr>
              <a:t>What we give up — and get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Give up: constraint handling, optimality, elegant terminal behaviour.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Get: bounded compute, predictable failure, and a control law a reviewer can reason about without running a solver.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For a recovery system, the second column wins.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MECHANICAL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Safety lives in the load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5212080" cy="1703197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0292" cy="1703197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85415"/>
            <a:ext cx="4526280" cy="1154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5C8D6"/>
                </a:solidFill>
                <a:latin typeface="Verdana"/>
              </a:rPr>
              <a:t>Core principle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The servo lives only on the brake/control-line branch — never in the primary riser load path.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Flight loads cannot reach the actuator.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852036"/>
            <a:ext cx="5212080" cy="1909572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852036"/>
            <a:ext cx="50292" cy="190957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4162932"/>
            <a:ext cx="4526280" cy="1360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A93B"/>
                </a:solidFill>
                <a:latin typeface="Verdana"/>
              </a:rPr>
              <a:t>Open work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Servo shock-load protection for the control-line actuator.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Locking spool mechanism for the brake/control-line 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74519"/>
            <a:ext cx="4983480" cy="3887088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74519"/>
            <a:ext cx="50292" cy="3887088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2185415"/>
            <a:ext cx="4297680" cy="333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5C8D6"/>
                </a:solidFill>
                <a:latin typeface="Verdana"/>
              </a:rPr>
              <a:t>Hard-won lesson: locking geometry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Self-energising pawl geometry is easy to get wrong — the seating moment direction is subtle and an incorrect one locks the wrong way.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Of the locking variants, only the friction brake fails gracefully under shock: it slips rather than transmitting load into the servo.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2F6FA"/>
                </a:solidFill>
                <a:latin typeface="Verdana"/>
              </a:rPr>
              <a:t>Graceful failure was chosen over higher holding force.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What comes next, in priority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75688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1965960"/>
            <a:ext cx="9546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1 · Solver migration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Move MPC from `fmincon`/SQP to an LTV-QP formulation solved with OSQP.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61945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752217"/>
            <a:ext cx="9546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2 · Flare manoeuvre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Rangefinder or barometric trigger, chosen over model-based terminal prediction.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48202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538474"/>
            <a:ext cx="9546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3 · Successive convexification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Possible middle ground between SQP accuracy and LTV-QP compute cost.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34459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324731"/>
            <a:ext cx="9546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4 · Model upgrades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Shear-aware wind prediction; 6-DOF dynamics with apparent-mass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220716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5110988"/>
            <a:ext cx="9546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5 · Case study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MIT Underactuated Ch. 10 perching glider — closest analogue to parafoil landing.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Tools and code map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74519"/>
          <a:ext cx="6035039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8159"/>
                <a:gridCol w="424688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1D33"/>
                          </a:solidFill>
                          <a:latin typeface="Verdana"/>
                        </a:rPr>
                        <a:t>Tool</a:t>
                      </a:r>
                    </a:p>
                  </a:txBody>
                  <a:tcPr anchor="ctr" marL="146304" marR="146304" marT="54864" marB="54864">
                    <a:solidFill>
                      <a:srgbClr val="35C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1D33"/>
                          </a:solidFill>
                          <a:latin typeface="Verdana"/>
                        </a:rPr>
                        <a:t>Role</a:t>
                      </a:r>
                    </a:p>
                  </a:txBody>
                  <a:tcPr anchor="ctr" marL="146304" marR="146304" marT="54864" marB="54864">
                    <a:solidFill>
                      <a:srgbClr val="35C8D6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2F6FA"/>
                          </a:solidFill>
                          <a:latin typeface="Verdana"/>
                        </a:rPr>
                        <a:t>MATLAB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BB0C4"/>
                          </a:solidFill>
                          <a:latin typeface="Verdana"/>
                        </a:rPr>
                        <a:t>Primary development environment: `fmincon`, Optimization Toolbox, custom RK4 integrator.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2F6FA"/>
                          </a:solidFill>
                          <a:latin typeface="Verdana"/>
                        </a:rPr>
                        <a:t>OSQP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BB0C4"/>
                          </a:solidFill>
                          <a:latin typeface="Verdana"/>
                        </a:rPr>
                        <a:t>Target QP solver for flight-hardware deployment.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2F6FA"/>
                          </a:solidFill>
                          <a:latin typeface="Verdana"/>
                        </a:rPr>
                        <a:t>Python 6-DOF sim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BB0C4"/>
                          </a:solidFill>
                          <a:latin typeface="Verdana"/>
                        </a:rPr>
                        <a:t>High-fidelity simulator with LTV-QP MPC, no MATLAB dependency.</a:t>
                      </a:r>
                    </a:p>
                  </a:txBody>
                  <a:tcPr anchor="ctr" marL="146304" marR="146304" marT="54864" marB="54864">
                    <a:solidFill>
                      <a:srgbClr val="163150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2F6FA"/>
                          </a:solidFill>
                          <a:latin typeface="Verdana"/>
                        </a:rPr>
                        <a:t>MIT Underactuated Robotics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BB0C4"/>
                          </a:solidFill>
                          <a:latin typeface="Verdana"/>
                        </a:rPr>
                        <a:t>Selective theoretical reference, mined rather than followed.</a:t>
                      </a:r>
                    </a:p>
                  </a:txBody>
                  <a:tcPr anchor="ctr" marL="146304" marR="146304" marT="54864" marB="54864">
                    <a:solidFill>
                      <a:srgbClr val="10274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178040" y="1874519"/>
            <a:ext cx="4251960" cy="379476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78040" y="1874519"/>
            <a:ext cx="50292" cy="379476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2088" y="2167127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A93B"/>
                </a:solidFill>
                <a:latin typeface="Verdana"/>
              </a:rPr>
              <a:t>Key MATLAB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2088" y="2651759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2F6FA"/>
                </a:solidFill>
                <a:latin typeface="Consolas"/>
              </a:rPr>
              <a:t>run_parafoil_mpc.m</a:t>
            </a: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9BB0C4"/>
                </a:solidFill>
                <a:latin typeface="Verdana"/>
              </a:rPr>
              <a:t>top-level MPC run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3145535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2F6FA"/>
                </a:solidFill>
                <a:latin typeface="Consolas"/>
              </a:rPr>
              <a:t>simulate_flight.m</a:t>
            </a: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9BB0C4"/>
                </a:solidFill>
                <a:latin typeface="Verdana"/>
              </a:rPr>
              <a:t>closed-loop flight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2088" y="3639311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2F6FA"/>
                </a:solidFill>
                <a:latin typeface="Consolas"/>
              </a:rPr>
              <a:t>mpc_parafoil.m</a:t>
            </a: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9BB0C4"/>
                </a:solidFill>
                <a:latin typeface="Verdana"/>
              </a:rPr>
              <a:t>MPC formulation and solver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2088" y="4133087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2F6FA"/>
                </a:solidFill>
                <a:latin typeface="Consolas"/>
              </a:rPr>
              <a:t>parafoil_dynamics.m</a:t>
            </a: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9BB0C4"/>
                </a:solidFill>
                <a:latin typeface="Verdana"/>
              </a:rPr>
              <a:t>vehicle dynamics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4626863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2F6FA"/>
                </a:solidFill>
                <a:latin typeface="Consolas"/>
              </a:rPr>
              <a:t>wind_model.m</a:t>
            </a: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9BB0C4"/>
                </a:solidFill>
                <a:latin typeface="Verdana"/>
              </a:rPr>
              <a:t>wind disturbance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5120639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2F6FA"/>
                </a:solidFill>
                <a:latin typeface="Consolas"/>
              </a:rPr>
              <a:t>rk4.m</a:t>
            </a: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9BB0C4"/>
                </a:solidFill>
                <a:latin typeface="Verdana"/>
              </a:rPr>
              <a:t>fixed-step RK4 integrator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46304" cy="146304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Verdana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2F6FA"/>
                </a:solidFill>
                <a:latin typeface="Verdana"/>
              </a:rPr>
              <a:t>Principles worth carrying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75688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965960"/>
            <a:ext cx="9546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Feedback beats fidelity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Re-solving on measured state is the robustness mechanism; model polish is secondary.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61945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752217"/>
            <a:ext cx="9546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Bound the worst case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A solver without a runtime bound is not a flight solver, however accurate it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648202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38474"/>
            <a:ext cx="9546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Name the failure modes first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Bias, constraint violation, and terminal model reliance each got an explicit mitigation.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434459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24731"/>
            <a:ext cx="9546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Keep actuators out of the load path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Mechanical safety is architectural, not a matter of stronger parts.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220716"/>
            <a:ext cx="118872" cy="118872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5110988"/>
            <a:ext cx="9546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F6FA"/>
                </a:solidFill>
                <a:latin typeface="Verdana"/>
              </a:rPr>
              <a:t>Fail gracefully by design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Verdana"/>
              </a:rPr>
              <a:t>The friction brake and the fallback guidance law exist for the same reason.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C8D6"/>
                </a:solidFill>
                <a:latin typeface="Verdana"/>
              </a:rPr>
              <a:t>Next milestone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Verdana"/>
              </a:rPr>
              <a:t>LTV-QP MPC on OSQP, validated in the 6-DOF simulator, with a sensor-triggered flare and the waypoint fallback ready to fly.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572000"/>
            <a:ext cx="1371600" cy="4114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BB0C4"/>
                </a:solidFill>
                <a:latin typeface="Verdana"/>
              </a:rPr>
              <a:t>Questions, and where you think the risk actually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Luna · Guided Parafoil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Verdana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Luna — Guided Parafoil Recovery: MPC Guidance and Control</dc:title>
  <dc:subject>MPC-based guidance and control for autonomous parafoil recovery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