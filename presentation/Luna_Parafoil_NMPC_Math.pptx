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1.png"/><Relationship Id="rId5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5" Type="http://schemas.openxmlformats.org/officeDocument/2006/relationships/image" Target="../media/image13.png"/><Relationship Id="rId6" Type="http://schemas.openxmlformats.org/officeDocument/2006/relationships/image" Target="../media/image14.png"/><Relationship Id="rId7" Type="http://schemas.openxmlformats.org/officeDocument/2006/relationships/image" Target="../media/image15.png"/><Relationship Id="rId8" Type="http://schemas.openxmlformats.org/officeDocument/2006/relationships/image" Target="../media/image16.png"/><Relationship Id="rId9" Type="http://schemas.openxmlformats.org/officeDocument/2006/relationships/image" Target="../media/image17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Relationship Id="rId3" Type="http://schemas.openxmlformats.org/officeDocument/2006/relationships/image" Target="../media/image2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Relationship Id="rId3" Type="http://schemas.openxmlformats.org/officeDocument/2006/relationships/image" Target="../media/image23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Relationship Id="rId3" Type="http://schemas.openxmlformats.org/officeDocument/2006/relationships/image" Target="../media/image22.png"/><Relationship Id="rId4" Type="http://schemas.openxmlformats.org/officeDocument/2006/relationships/image" Target="../media/image25.png"/><Relationship Id="rId5" Type="http://schemas.openxmlformats.org/officeDocument/2006/relationships/image" Target="../media/image26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D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35C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463040"/>
            <a:ext cx="65836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35C8D6"/>
                </a:solidFill>
                <a:latin typeface="Calibri"/>
              </a:rPr>
              <a:t>GUIDED PARACHUTE PROJECT  ·  MATH WALKTHROUGH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965960"/>
            <a:ext cx="685800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 i="0">
                <a:solidFill>
                  <a:srgbClr val="F2F6FA"/>
                </a:solidFill>
                <a:latin typeface="Calibri"/>
              </a:rPr>
              <a:t>Nonlinear MPC for
Parafoil Return-to-Pad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3657600"/>
            <a:ext cx="1463040" cy="36576"/>
          </a:xfrm>
          <a:prstGeom prst="rect">
            <a:avLst/>
          </a:prstGeom>
          <a:solidFill>
            <a:srgbClr val="F2A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3886200"/>
            <a:ext cx="658368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9BB0C4"/>
                </a:solidFill>
                <a:latin typeface="Calibri"/>
              </a:rPr>
              <a:t>Equations from papers/parafoil_mpc_math.pdf — kinematic plant, power-law + OU wind, GPS wind estimate, shrinking-horizon NMPC — plus results and frames from the project simulator.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5760720"/>
            <a:ext cx="64008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9BB0C4"/>
                </a:solidFill>
                <a:latin typeface="Calibri"/>
              </a:rPr>
              <a:t>Hudson Kim  ·  editable PowerPoint  ·  project assets only</a:t>
            </a:r>
          </a:p>
        </p:txBody>
      </p:sp>
      <p:pic>
        <p:nvPicPr>
          <p:cNvPr id="8" name="Picture 7" descr="t40_mi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52360" y="1417320"/>
            <a:ext cx="4297680" cy="241744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02920" y="6473952"/>
            <a:ext cx="10088575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9BB0C4"/>
                </a:solidFill>
                <a:latin typeface="Calibri"/>
              </a:rPr>
              <a:t>Luna · Parafoil NMPC math  ·  source: papers/parafoil_mpc_math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82935" y="6473952"/>
            <a:ext cx="100584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9BB0C4"/>
                </a:solidFill>
                <a:latin typeface="Calibri"/>
              </a:rPr>
              <a:t>1/16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D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47472"/>
            <a:ext cx="128016" cy="128016"/>
          </a:xfrm>
          <a:prstGeom prst="rect">
            <a:avLst/>
          </a:prstGeom>
          <a:solidFill>
            <a:srgbClr val="35C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58952" y="292608"/>
            <a:ext cx="91440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35C8D6"/>
                </a:solidFill>
                <a:latin typeface="Calibri"/>
              </a:rPr>
              <a:t>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0080"/>
            <a:ext cx="11185855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F2F6FA"/>
                </a:solidFill>
                <a:latin typeface="Calibri"/>
              </a:rPr>
              <a:t>How the pieces connect</a:t>
            </a:r>
          </a:p>
        </p:txBody>
      </p:sp>
      <p:pic>
        <p:nvPicPr>
          <p:cNvPr id="5" name="Picture 4" descr="diagram_closed_lo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417320"/>
            <a:ext cx="11155680" cy="446227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02920" y="5074920"/>
            <a:ext cx="11185855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35C8D6"/>
                </a:solidFill>
                <a:latin typeface="Calibri"/>
              </a:rPr>
              <a:t>Key idea</a:t>
            </a:r>
          </a:p>
          <a:p>
            <a:pPr algn="l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</a:pPr>
            <a:r>
              <a:rPr sz="1400" b="0" i="0">
                <a:solidFill>
                  <a:srgbClr val="9BB0C4"/>
                </a:solidFill>
                <a:latin typeface="Calibri"/>
              </a:rPr>
              <a:t>The plant always feels truth wind (shear + gusts). The controller never sees that wind — only a filtered estimate ŵ held constant inside each NMPC prediction. Receding-horizon replanning every Tc = 1 s is what absorbs the mismatch.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10088575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9BB0C4"/>
                </a:solidFill>
                <a:latin typeface="Calibri"/>
              </a:rPr>
              <a:t>Luna · Parafoil NMPC math  ·  source: papers/parafoil_mpc_math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82935" y="6473952"/>
            <a:ext cx="100584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9BB0C4"/>
                </a:solidFill>
                <a:latin typeface="Calibri"/>
              </a:rPr>
              <a:t>2/16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D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47472"/>
            <a:ext cx="128016" cy="128016"/>
          </a:xfrm>
          <a:prstGeom prst="rect">
            <a:avLst/>
          </a:prstGeom>
          <a:solidFill>
            <a:srgbClr val="35C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58952" y="292608"/>
            <a:ext cx="91440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35C8D6"/>
                </a:solidFill>
                <a:latin typeface="Calibri"/>
              </a:rPr>
              <a:t>VEHICLE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0080"/>
            <a:ext cx="11185855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F2F6FA"/>
                </a:solidFill>
                <a:latin typeface="Calibri"/>
              </a:rPr>
              <a:t>State, control, coordinated turn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417320"/>
            <a:ext cx="5852160" cy="2331720"/>
          </a:xfrm>
          <a:prstGeom prst="rect">
            <a:avLst/>
          </a:prstGeom>
          <a:solidFill>
            <a:srgbClr val="1631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1417320"/>
            <a:ext cx="45720" cy="2331720"/>
          </a:xfrm>
          <a:prstGeom prst="rect">
            <a:avLst/>
          </a:prstGeom>
          <a:solidFill>
            <a:srgbClr val="35C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527048"/>
            <a:ext cx="553212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35C8D6"/>
                </a:solidFill>
                <a:latin typeface="Calibri"/>
              </a:rPr>
              <a:t>Definitions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801368"/>
            <a:ext cx="5532120" cy="18562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2F6FA"/>
                </a:solidFill>
                <a:latin typeface="Consolas"/>
              </a:rPr>
              <a:t>x = [ p_x,  p_y,  h,  ψ ]ᵀ</a:t>
            </a:r>
          </a:p>
          <a:p>
            <a:pPr algn="l">
              <a:lnSpc>
                <a:spcPct val="125000"/>
              </a:lnSpc>
              <a:spcBef>
                <a:spcPts val="400"/>
              </a:spcBef>
              <a:spcAft>
                <a:spcPts val="0"/>
              </a:spcAft>
            </a:pPr>
            <a:r>
              <a:rPr sz="1300" b="0" i="0">
                <a:solidFill>
                  <a:srgbClr val="F2F6FA"/>
                </a:solidFill>
                <a:latin typeface="Consolas"/>
              </a:rPr>
              <a:t/>
            </a:r>
          </a:p>
          <a:p>
            <a:pPr algn="l">
              <a:lnSpc>
                <a:spcPct val="125000"/>
              </a:lnSpc>
              <a:spcBef>
                <a:spcPts val="400"/>
              </a:spcBef>
              <a:spcAft>
                <a:spcPts val="0"/>
              </a:spcAft>
            </a:pPr>
            <a:r>
              <a:rPr sz="1300" b="0" i="0">
                <a:solidFill>
                  <a:srgbClr val="F2F6FA"/>
                </a:solidFill>
                <a:latin typeface="Consolas"/>
              </a:rPr>
              <a:t>u = ψ̇          |u| ≤ u_max = 0.35 rad/s</a:t>
            </a:r>
          </a:p>
          <a:p>
            <a:pPr algn="l">
              <a:lnSpc>
                <a:spcPct val="125000"/>
              </a:lnSpc>
              <a:spcBef>
                <a:spcPts val="400"/>
              </a:spcBef>
              <a:spcAft>
                <a:spcPts val="0"/>
              </a:spcAft>
            </a:pPr>
            <a:r>
              <a:rPr sz="1300" b="0" i="0">
                <a:solidFill>
                  <a:srgbClr val="F2F6FA"/>
                </a:solidFill>
                <a:latin typeface="Consolas"/>
              </a:rPr>
              <a:t/>
            </a:r>
          </a:p>
          <a:p>
            <a:pPr algn="l">
              <a:lnSpc>
                <a:spcPct val="125000"/>
              </a:lnSpc>
              <a:spcBef>
                <a:spcPts val="400"/>
              </a:spcBef>
              <a:spcAft>
                <a:spcPts val="0"/>
              </a:spcAft>
            </a:pPr>
            <a:r>
              <a:rPr sz="1300" b="0" i="0">
                <a:solidFill>
                  <a:srgbClr val="F2F6FA"/>
                </a:solidFill>
                <a:latin typeface="Consolas"/>
              </a:rPr>
              <a:t>u = (g / V_h) tan φ     (coordinated turn)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0" y="1417320"/>
            <a:ext cx="50292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35C8D6"/>
                </a:solidFill>
                <a:latin typeface="Calibri"/>
              </a:rPr>
              <a:t>1. State x</a:t>
            </a:r>
          </a:p>
          <a:p>
            <a:pPr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</a:pPr>
            <a:r>
              <a:rPr sz="1200" b="0" i="0">
                <a:solidFill>
                  <a:srgbClr val="9BB0C4"/>
                </a:solidFill>
                <a:latin typeface="Calibri"/>
              </a:rPr>
              <a:t>Planar position, altitude above the pad plane, air-relative heading.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2194560"/>
            <a:ext cx="50292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35C8D6"/>
                </a:solidFill>
                <a:latin typeface="Calibri"/>
              </a:rPr>
              <a:t>2. Control u</a:t>
            </a:r>
          </a:p>
          <a:p>
            <a:pPr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</a:pPr>
            <a:r>
              <a:rPr sz="1200" b="0" i="0">
                <a:solidFill>
                  <a:srgbClr val="9BB0C4"/>
                </a:solidFill>
                <a:latin typeface="Calibri"/>
              </a:rPr>
              <a:t>Commanded heading rate. Physical actuator = asymmetric brake deflection.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2971800"/>
            <a:ext cx="50292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35C8D6"/>
                </a:solidFill>
                <a:latin typeface="Calibri"/>
              </a:rPr>
              <a:t>3. Bank limit</a:t>
            </a:r>
          </a:p>
          <a:p>
            <a:pPr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</a:pPr>
            <a:r>
              <a:rPr sz="1200" b="0" i="0">
                <a:solidFill>
                  <a:srgbClr val="9BB0C4"/>
                </a:solidFill>
                <a:latin typeface="Calibri"/>
              </a:rPr>
              <a:t>The bound on u is a bank-angle limit via the coordinated-turn map.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4023360"/>
            <a:ext cx="11185855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35C8D6"/>
                </a:solidFill>
                <a:latin typeface="Calibri"/>
              </a:rPr>
              <a:t>Defaults used in the paper / algo/mpc_v1</a:t>
            </a:r>
          </a:p>
          <a:p>
            <a:pPr algn="l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</a:pPr>
            <a:r>
              <a:rPr sz="1400" b="0" i="0">
                <a:solidFill>
                  <a:srgbClr val="F2F6FA"/>
                </a:solidFill>
                <a:latin typeface="Consolas"/>
              </a:rPr>
              <a:t>V_h = 7.0 m/s    V_v = 3.5 m/s    glide ratio = 2</a:t>
            </a:r>
          </a:p>
          <a:p>
            <a:pPr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</a:pPr>
            <a:r>
              <a:rPr sz="1400" b="0" i="0">
                <a:solidFill>
                  <a:srgbClr val="F2F6FA"/>
                </a:solidFill>
                <a:latin typeface="Consolas"/>
              </a:rPr>
              <a:t>x₀ = [650, −450, 500, π/2]ᵀ m,rad     r_t = [0, 0]ᵀ (pad)</a:t>
            </a:r>
          </a:p>
          <a:p>
            <a:pPr algn="l">
              <a:lnSpc>
                <a:spcPct val="125000"/>
              </a:lnSpc>
              <a:spcBef>
                <a:spcPts val="1200"/>
              </a:spcBef>
              <a:spcAft>
                <a:spcPts val="0"/>
              </a:spcAft>
            </a:pPr>
            <a:r>
              <a:rPr sz="1300" b="0" i="0">
                <a:solidFill>
                  <a:srgbClr val="9BB0C4"/>
                </a:solidFill>
                <a:latin typeface="Calibri"/>
              </a:rPr>
              <a:t>Why this order? Fixed glide numbers make time-to-go a pure function of altitude: t_go = h / V_v. That fact drives the shrinking horizon later.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473952"/>
            <a:ext cx="10088575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9BB0C4"/>
                </a:solidFill>
                <a:latin typeface="Calibri"/>
              </a:rPr>
              <a:t>Luna · Parafoil NMPC math  ·  source: papers/parafoil_mpc_math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82935" y="6473952"/>
            <a:ext cx="100584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9BB0C4"/>
                </a:solidFill>
                <a:latin typeface="Calibri"/>
              </a:rPr>
              <a:t>3/16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D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47472"/>
            <a:ext cx="128016" cy="128016"/>
          </a:xfrm>
          <a:prstGeom prst="rect">
            <a:avLst/>
          </a:prstGeom>
          <a:solidFill>
            <a:srgbClr val="35C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58952" y="292608"/>
            <a:ext cx="91440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35C8D6"/>
                </a:solidFill>
                <a:latin typeface="Calibri"/>
              </a:rPr>
              <a:t>VEHICLE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0080"/>
            <a:ext cx="11185855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F2F6FA"/>
                </a:solidFill>
                <a:latin typeface="Calibri"/>
              </a:rPr>
              <a:t>Kinematic dynamics — where wind enters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371600"/>
            <a:ext cx="5486400" cy="2926080"/>
          </a:xfrm>
          <a:prstGeom prst="rect">
            <a:avLst/>
          </a:prstGeom>
          <a:solidFill>
            <a:srgbClr val="1631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1371600"/>
            <a:ext cx="45720" cy="2926080"/>
          </a:xfrm>
          <a:prstGeom prst="rect">
            <a:avLst/>
          </a:prstGeom>
          <a:solidFill>
            <a:srgbClr val="35C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481328"/>
            <a:ext cx="516636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35C8D6"/>
                </a:solidFill>
                <a:latin typeface="Calibri"/>
              </a:rPr>
              <a:t>3-DOF plant  (eq. dynamics)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755648"/>
            <a:ext cx="5166360" cy="2450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2F6FA"/>
                </a:solidFill>
                <a:latin typeface="Consolas"/>
              </a:rPr>
              <a:t>ẋ = V_h cos ψ  +  w_x</a:t>
            </a:r>
          </a:p>
          <a:p>
            <a:pPr algn="l">
              <a:lnSpc>
                <a:spcPct val="125000"/>
              </a:lnSpc>
              <a:spcBef>
                <a:spcPts val="400"/>
              </a:spcBef>
              <a:spcAft>
                <a:spcPts val="0"/>
              </a:spcAft>
            </a:pPr>
            <a:r>
              <a:rPr sz="1300" b="0" i="0">
                <a:solidFill>
                  <a:srgbClr val="F2F6FA"/>
                </a:solidFill>
                <a:latin typeface="Consolas"/>
              </a:rPr>
              <a:t>ẏ = V_h sin ψ  +  w_y</a:t>
            </a:r>
          </a:p>
          <a:p>
            <a:pPr algn="l">
              <a:lnSpc>
                <a:spcPct val="125000"/>
              </a:lnSpc>
              <a:spcBef>
                <a:spcPts val="400"/>
              </a:spcBef>
              <a:spcAft>
                <a:spcPts val="0"/>
              </a:spcAft>
            </a:pPr>
            <a:r>
              <a:rPr sz="1300" b="0" i="0">
                <a:solidFill>
                  <a:srgbClr val="F2F6FA"/>
                </a:solidFill>
                <a:latin typeface="Consolas"/>
              </a:rPr>
              <a:t>ḣ = −V_v</a:t>
            </a:r>
          </a:p>
          <a:p>
            <a:pPr algn="l">
              <a:lnSpc>
                <a:spcPct val="125000"/>
              </a:lnSpc>
              <a:spcBef>
                <a:spcPts val="400"/>
              </a:spcBef>
              <a:spcAft>
                <a:spcPts val="0"/>
              </a:spcAft>
            </a:pPr>
            <a:r>
              <a:rPr sz="1300" b="0" i="0">
                <a:solidFill>
                  <a:srgbClr val="F2F6FA"/>
                </a:solidFill>
                <a:latin typeface="Consolas"/>
              </a:rPr>
              <a:t>ψ̇ = u</a:t>
            </a:r>
          </a:p>
          <a:p>
            <a:pPr algn="l">
              <a:lnSpc>
                <a:spcPct val="125000"/>
              </a:lnSpc>
              <a:spcBef>
                <a:spcPts val="400"/>
              </a:spcBef>
              <a:spcAft>
                <a:spcPts val="0"/>
              </a:spcAft>
            </a:pPr>
            <a:r>
              <a:rPr sz="1300" b="0" i="0">
                <a:solidFill>
                  <a:srgbClr val="F2F6FA"/>
                </a:solidFill>
                <a:latin typeface="Consolas"/>
              </a:rPr>
              <a:t/>
            </a:r>
          </a:p>
          <a:p>
            <a:pPr algn="l">
              <a:lnSpc>
                <a:spcPct val="125000"/>
              </a:lnSpc>
              <a:spcBef>
                <a:spcPts val="400"/>
              </a:spcBef>
              <a:spcAft>
                <a:spcPts val="0"/>
              </a:spcAft>
            </a:pPr>
            <a:r>
              <a:rPr sz="1300" b="0" i="0">
                <a:solidFill>
                  <a:srgbClr val="F2F6FA"/>
                </a:solidFill>
                <a:latin typeface="Consolas"/>
              </a:rPr>
              <a:t>t_go = h / V_v</a:t>
            </a:r>
          </a:p>
        </p:txBody>
      </p:sp>
      <p:pic>
        <p:nvPicPr>
          <p:cNvPr id="9" name="Picture 8" descr="diagram_kinematic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0" y="1325880"/>
            <a:ext cx="5577840" cy="409041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02920" y="4572000"/>
            <a:ext cx="11185855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35C8D6"/>
                </a:solidFill>
                <a:latin typeface="Calibri"/>
              </a:rPr>
              <a:t>Reading the equations</a:t>
            </a:r>
          </a:p>
          <a:p>
            <a:pPr algn="l">
              <a:lnSpc>
                <a:spcPct val="135000"/>
              </a:lnSpc>
              <a:spcBef>
                <a:spcPts val="400"/>
              </a:spcBef>
              <a:spcAft>
                <a:spcPts val="0"/>
              </a:spcAft>
            </a:pPr>
            <a:r>
              <a:rPr sz="1300" b="0" i="0">
                <a:solidFill>
                  <a:srgbClr val="9BB0C4"/>
                </a:solidFill>
                <a:latin typeface="Calibri"/>
              </a:rPr>
              <a:t>• Horizontal ground velocity is air velocity plus wind — wind can rival V_h near the surface.
• Altitude falls at a fixed sink rate, so remaining flight time is a clock.
• The only decision the guidance law makes is the heading-rate sequence u(t).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73952"/>
            <a:ext cx="10088575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9BB0C4"/>
                </a:solidFill>
                <a:latin typeface="Calibri"/>
              </a:rPr>
              <a:t>Luna · Parafoil NMPC math  ·  source: papers/parafoil_mpc_math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82935" y="6473952"/>
            <a:ext cx="100584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9BB0C4"/>
                </a:solidFill>
                <a:latin typeface="Calibri"/>
              </a:rPr>
              <a:t>4/16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D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47472"/>
            <a:ext cx="128016" cy="128016"/>
          </a:xfrm>
          <a:prstGeom prst="rect">
            <a:avLst/>
          </a:prstGeom>
          <a:solidFill>
            <a:srgbClr val="35C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58952" y="292608"/>
            <a:ext cx="91440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35C8D6"/>
                </a:solidFill>
                <a:latin typeface="Calibri"/>
              </a:rPr>
              <a:t>ATMOSPHERE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0080"/>
            <a:ext cx="11185855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F2F6FA"/>
                </a:solidFill>
                <a:latin typeface="Calibri"/>
              </a:rPr>
              <a:t>Truth wind: shear + gusts (controller never sees this)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325880"/>
            <a:ext cx="5303520" cy="3108960"/>
          </a:xfrm>
          <a:prstGeom prst="rect">
            <a:avLst/>
          </a:prstGeom>
          <a:solidFill>
            <a:srgbClr val="1631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1325880"/>
            <a:ext cx="45720" cy="3108960"/>
          </a:xfrm>
          <a:prstGeom prst="rect">
            <a:avLst/>
          </a:prstGeom>
          <a:solidFill>
            <a:srgbClr val="35C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435608"/>
            <a:ext cx="498348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35C8D6"/>
                </a:solidFill>
                <a:latin typeface="Calibri"/>
              </a:rPr>
              <a:t>Power law + Ornstein–Uhlenbeck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709928"/>
            <a:ext cx="4983480" cy="2633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2F6FA"/>
                </a:solidFill>
                <a:latin typeface="Consolas"/>
              </a:rPr>
              <a:t>w(h,t) = w_mean(h) + ξ(t)</a:t>
            </a:r>
          </a:p>
          <a:p>
            <a:pPr algn="l">
              <a:lnSpc>
                <a:spcPct val="125000"/>
              </a:lnSpc>
              <a:spcBef>
                <a:spcPts val="400"/>
              </a:spcBef>
              <a:spcAft>
                <a:spcPts val="0"/>
              </a:spcAft>
            </a:pPr>
            <a:r>
              <a:rPr sz="1300" b="0" i="0">
                <a:solidFill>
                  <a:srgbClr val="F2F6FA"/>
                </a:solidFill>
                <a:latin typeface="Consolas"/>
              </a:rPr>
              <a:t/>
            </a:r>
          </a:p>
          <a:p>
            <a:pPr algn="l">
              <a:lnSpc>
                <a:spcPct val="125000"/>
              </a:lnSpc>
              <a:spcBef>
                <a:spcPts val="400"/>
              </a:spcBef>
              <a:spcAft>
                <a:spcPts val="0"/>
              </a:spcAft>
            </a:pPr>
            <a:r>
              <a:rPr sz="1300" b="0" i="0">
                <a:solidFill>
                  <a:srgbClr val="F2F6FA"/>
                </a:solidFill>
                <a:latin typeface="Consolas"/>
              </a:rPr>
              <a:t>|w_mean| = W₁₀ (max(h,h_min)/10)^α</a:t>
            </a:r>
          </a:p>
          <a:p>
            <a:pPr algn="l">
              <a:lnSpc>
                <a:spcPct val="125000"/>
              </a:lnSpc>
              <a:spcBef>
                <a:spcPts val="400"/>
              </a:spcBef>
              <a:spcAft>
                <a:spcPts val="0"/>
              </a:spcAft>
            </a:pPr>
            <a:r>
              <a:rPr sz="1300" b="0" i="0">
                <a:solidFill>
                  <a:srgbClr val="F2F6FA"/>
                </a:solidFill>
                <a:latin typeface="Consolas"/>
              </a:rPr>
              <a:t>w_mean = |w_mean| [cos θ_w, sin θ_w]ᵀ</a:t>
            </a:r>
          </a:p>
          <a:p>
            <a:pPr algn="l">
              <a:lnSpc>
                <a:spcPct val="125000"/>
              </a:lnSpc>
              <a:spcBef>
                <a:spcPts val="400"/>
              </a:spcBef>
              <a:spcAft>
                <a:spcPts val="0"/>
              </a:spcAft>
            </a:pPr>
            <a:r>
              <a:rPr sz="1300" b="0" i="0">
                <a:solidFill>
                  <a:srgbClr val="F2F6FA"/>
                </a:solidFill>
                <a:latin typeface="Consolas"/>
              </a:rPr>
              <a:t/>
            </a:r>
          </a:p>
          <a:p>
            <a:pPr algn="l">
              <a:lnSpc>
                <a:spcPct val="125000"/>
              </a:lnSpc>
              <a:spcBef>
                <a:spcPts val="400"/>
              </a:spcBef>
              <a:spcAft>
                <a:spcPts val="0"/>
              </a:spcAft>
            </a:pPr>
            <a:r>
              <a:rPr sz="1300" b="0" i="0">
                <a:solidFill>
                  <a:srgbClr val="F2F6FA"/>
                </a:solidFill>
                <a:latin typeface="Consolas"/>
              </a:rPr>
              <a:t>ξ_{k+1} = (1 − Δt/τ_g) ξ_k</a:t>
            </a:r>
          </a:p>
          <a:p>
            <a:pPr algn="l">
              <a:lnSpc>
                <a:spcPct val="125000"/>
              </a:lnSpc>
              <a:spcBef>
                <a:spcPts val="400"/>
              </a:spcBef>
              <a:spcAft>
                <a:spcPts val="0"/>
              </a:spcAft>
            </a:pPr>
            <a:r>
              <a:rPr sz="1300" b="0" i="0">
                <a:solidFill>
                  <a:srgbClr val="F2F6FA"/>
                </a:solidFill>
                <a:latin typeface="Consolas"/>
              </a:rPr>
              <a:t>         + σ_g √(2Δt/τ_g) η_k</a:t>
            </a:r>
          </a:p>
          <a:p>
            <a:pPr algn="l">
              <a:lnSpc>
                <a:spcPct val="125000"/>
              </a:lnSpc>
              <a:spcBef>
                <a:spcPts val="400"/>
              </a:spcBef>
              <a:spcAft>
                <a:spcPts val="0"/>
              </a:spcAft>
            </a:pPr>
            <a:r>
              <a:rPr sz="1300" b="0" i="0">
                <a:solidFill>
                  <a:srgbClr val="F2F6FA"/>
                </a:solidFill>
                <a:latin typeface="Consolas"/>
              </a:rPr>
              <a:t>η_k ~ N(0, I₂)</a:t>
            </a:r>
          </a:p>
        </p:txBody>
      </p:sp>
      <p:pic>
        <p:nvPicPr>
          <p:cNvPr id="9" name="Picture 8" descr="diagram_wi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280160"/>
            <a:ext cx="5760720" cy="2782267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02920" y="4709160"/>
            <a:ext cx="11185855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9BB0C4"/>
                </a:solidFill>
                <a:latin typeface="Calibri"/>
              </a:rPr>
              <a:t>Defaults: W₁₀ = 3 m/s, θ_w = 210°, α = 0.14, h_min = 2 m, τ_g = 8 s, σ_g = 0.8 m/s. OU is a lightweight stand-in for Dryden turbulence — enough to stress guidance without full spectral fidelity.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73952"/>
            <a:ext cx="10088575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9BB0C4"/>
                </a:solidFill>
                <a:latin typeface="Calibri"/>
              </a:rPr>
              <a:t>Luna · Parafoil NMPC math  ·  source: papers/parafoil_mpc_math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82935" y="6473952"/>
            <a:ext cx="100584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9BB0C4"/>
                </a:solidFill>
                <a:latin typeface="Calibri"/>
              </a:rPr>
              <a:t>5/16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D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47472"/>
            <a:ext cx="128016" cy="128016"/>
          </a:xfrm>
          <a:prstGeom prst="rect">
            <a:avLst/>
          </a:prstGeom>
          <a:solidFill>
            <a:srgbClr val="35C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58952" y="292608"/>
            <a:ext cx="91440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35C8D6"/>
                </a:solidFill>
                <a:latin typeface="Calibri"/>
              </a:rPr>
              <a:t>SENSING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0080"/>
            <a:ext cx="11185855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F2F6FA"/>
                </a:solidFill>
                <a:latin typeface="Calibri"/>
              </a:rPr>
              <a:t>GPS sensing → low-pass wind estimate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371600"/>
            <a:ext cx="6400800" cy="3200400"/>
          </a:xfrm>
          <a:prstGeom prst="rect">
            <a:avLst/>
          </a:prstGeom>
          <a:solidFill>
            <a:srgbClr val="1631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1371600"/>
            <a:ext cx="45720" cy="3200400"/>
          </a:xfrm>
          <a:prstGeom prst="rect">
            <a:avLst/>
          </a:prstGeom>
          <a:solidFill>
            <a:srgbClr val="35C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481328"/>
            <a:ext cx="608076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35C8D6"/>
                </a:solidFill>
                <a:latin typeface="Calibri"/>
              </a:rPr>
              <a:t>Estimator (runs every plant step Δt)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755648"/>
            <a:ext cx="6080760" cy="2724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2F6FA"/>
                </a:solidFill>
                <a:latin typeface="Consolas"/>
              </a:rPr>
              <a:t>v_air = V_h [cos ψ, sin ψ]ᵀ</a:t>
            </a:r>
          </a:p>
          <a:p>
            <a:pPr algn="l">
              <a:lnSpc>
                <a:spcPct val="125000"/>
              </a:lnSpc>
              <a:spcBef>
                <a:spcPts val="400"/>
              </a:spcBef>
              <a:spcAft>
                <a:spcPts val="0"/>
              </a:spcAft>
            </a:pPr>
            <a:r>
              <a:rPr sz="1300" b="0" i="0">
                <a:solidFill>
                  <a:srgbClr val="F2F6FA"/>
                </a:solidFill>
                <a:latin typeface="Consolas"/>
              </a:rPr>
              <a:t>v_GPS = v_air + w + ν,   ν ~ N(0, σ_GPS² I)</a:t>
            </a:r>
          </a:p>
          <a:p>
            <a:pPr algn="l">
              <a:lnSpc>
                <a:spcPct val="125000"/>
              </a:lnSpc>
              <a:spcBef>
                <a:spcPts val="400"/>
              </a:spcBef>
              <a:spcAft>
                <a:spcPts val="0"/>
              </a:spcAft>
            </a:pPr>
            <a:r>
              <a:rPr sz="1300" b="0" i="0">
                <a:solidFill>
                  <a:srgbClr val="F2F6FA"/>
                </a:solidFill>
                <a:latin typeface="Consolas"/>
              </a:rPr>
              <a:t>w_raw = v_GPS − v_air</a:t>
            </a:r>
          </a:p>
          <a:p>
            <a:pPr algn="l">
              <a:lnSpc>
                <a:spcPct val="125000"/>
              </a:lnSpc>
              <a:spcBef>
                <a:spcPts val="400"/>
              </a:spcBef>
              <a:spcAft>
                <a:spcPts val="0"/>
              </a:spcAft>
            </a:pPr>
            <a:r>
              <a:rPr sz="1300" b="0" i="0">
                <a:solidFill>
                  <a:srgbClr val="F2F6FA"/>
                </a:solidFill>
                <a:latin typeface="Consolas"/>
              </a:rPr>
              <a:t/>
            </a:r>
          </a:p>
          <a:p>
            <a:pPr algn="l">
              <a:lnSpc>
                <a:spcPct val="125000"/>
              </a:lnSpc>
              <a:spcBef>
                <a:spcPts val="400"/>
              </a:spcBef>
              <a:spcAft>
                <a:spcPts val="0"/>
              </a:spcAft>
            </a:pPr>
            <a:r>
              <a:rPr sz="1300" b="0" i="0">
                <a:solidFill>
                  <a:srgbClr val="F2F6FA"/>
                </a:solidFill>
                <a:latin typeface="Consolas"/>
              </a:rPr>
              <a:t>ŵ ← ŵ + a (w_raw − ŵ)</a:t>
            </a:r>
          </a:p>
          <a:p>
            <a:pPr algn="l">
              <a:lnSpc>
                <a:spcPct val="125000"/>
              </a:lnSpc>
              <a:spcBef>
                <a:spcPts val="400"/>
              </a:spcBef>
              <a:spcAft>
                <a:spcPts val="0"/>
              </a:spcAft>
            </a:pPr>
            <a:r>
              <a:rPr sz="1300" b="0" i="0">
                <a:solidFill>
                  <a:srgbClr val="F2F6FA"/>
                </a:solidFill>
                <a:latin typeface="Consolas"/>
              </a:rPr>
              <a:t>a = Δt / (Δt + τ_e)</a:t>
            </a:r>
          </a:p>
          <a:p>
            <a:pPr algn="l">
              <a:lnSpc>
                <a:spcPct val="125000"/>
              </a:lnSpc>
              <a:spcBef>
                <a:spcPts val="400"/>
              </a:spcBef>
              <a:spcAft>
                <a:spcPts val="0"/>
              </a:spcAft>
            </a:pPr>
            <a:r>
              <a:rPr sz="1300" b="0" i="0">
                <a:solidFill>
                  <a:srgbClr val="F2F6FA"/>
                </a:solidFill>
                <a:latin typeface="Consolas"/>
              </a:rPr>
              <a:t/>
            </a:r>
          </a:p>
          <a:p>
            <a:pPr algn="l">
              <a:lnSpc>
                <a:spcPct val="125000"/>
              </a:lnSpc>
              <a:spcBef>
                <a:spcPts val="400"/>
              </a:spcBef>
              <a:spcAft>
                <a:spcPts val="0"/>
              </a:spcAft>
            </a:pPr>
            <a:r>
              <a:rPr sz="1300" b="0" i="0">
                <a:solidFill>
                  <a:srgbClr val="F2F6FA"/>
                </a:solidFill>
                <a:latin typeface="Consolas"/>
              </a:rPr>
              <a:t>NMPC holds ŵ constant over the horizon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0" y="1417320"/>
            <a:ext cx="448056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35C8D6"/>
                </a:solidFill>
                <a:latin typeface="Calibri"/>
              </a:rPr>
              <a:t>1. Assumes known airspeed &amp; heading</a:t>
            </a:r>
          </a:p>
          <a:p>
            <a:pPr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</a:pPr>
            <a:r>
              <a:rPr sz="1200" b="0" i="0">
                <a:solidFill>
                  <a:srgbClr val="9BB0C4"/>
                </a:solidFill>
                <a:latin typeface="Calibri"/>
              </a:rPr>
              <a:t>Navigation errors beyond ground-velocity noise are out of scope in the paper.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0" y="2194560"/>
            <a:ext cx="448056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35C8D6"/>
                </a:solidFill>
                <a:latin typeface="Calibri"/>
              </a:rPr>
              <a:t>2. σ_GPS = 0.2 m/s, τ_e = 5 s</a:t>
            </a:r>
          </a:p>
          <a:p>
            <a:pPr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</a:pPr>
            <a:r>
              <a:rPr sz="1200" b="0" i="0">
                <a:solidFill>
                  <a:srgbClr val="9BB0C4"/>
                </a:solidFill>
                <a:latin typeface="Calibri"/>
              </a:rPr>
              <a:t>Filter trades noise rejection against lag on shear changes.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0" y="2971800"/>
            <a:ext cx="448056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35C8D6"/>
                </a:solidFill>
                <a:latin typeface="Calibri"/>
              </a:rPr>
              <a:t>3. Frozen ŵ in prediction</a:t>
            </a:r>
          </a:p>
          <a:p>
            <a:pPr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</a:pPr>
            <a:r>
              <a:rPr sz="1200" b="0" i="0">
                <a:solidFill>
                  <a:srgbClr val="9BB0C4"/>
                </a:solidFill>
                <a:latin typeface="Calibri"/>
              </a:rPr>
              <a:t>Structural mismatch vs altitude-varying truth — fixed by replanning.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473952"/>
            <a:ext cx="10088575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9BB0C4"/>
                </a:solidFill>
                <a:latin typeface="Calibri"/>
              </a:rPr>
              <a:t>Luna · Parafoil NMPC math  ·  source: papers/parafoil_mpc_math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82935" y="6473952"/>
            <a:ext cx="100584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9BB0C4"/>
                </a:solidFill>
                <a:latin typeface="Calibri"/>
              </a:rPr>
              <a:t>6/16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D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47472"/>
            <a:ext cx="128016" cy="128016"/>
          </a:xfrm>
          <a:prstGeom prst="rect">
            <a:avLst/>
          </a:prstGeom>
          <a:solidFill>
            <a:srgbClr val="35C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58952" y="292608"/>
            <a:ext cx="91440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35C8D6"/>
                </a:solidFill>
                <a:latin typeface="Calibri"/>
              </a:rPr>
              <a:t>NMPC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0080"/>
            <a:ext cx="11185855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F2F6FA"/>
                </a:solidFill>
                <a:latin typeface="Calibri"/>
              </a:rPr>
              <a:t>Decision variables and shrinking horizon</a:t>
            </a:r>
          </a:p>
        </p:txBody>
      </p:sp>
      <p:pic>
        <p:nvPicPr>
          <p:cNvPr id="5" name="Picture 4" descr="diagram_horiz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280160"/>
            <a:ext cx="11155680" cy="4889217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02920" y="4572000"/>
            <a:ext cx="11155680" cy="1554480"/>
          </a:xfrm>
          <a:prstGeom prst="rect">
            <a:avLst/>
          </a:prstGeom>
          <a:solidFill>
            <a:srgbClr val="1631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4572000"/>
            <a:ext cx="45720" cy="1554480"/>
          </a:xfrm>
          <a:prstGeom prst="rect">
            <a:avLst/>
          </a:prstGeom>
          <a:solidFill>
            <a:srgbClr val="35C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4681728"/>
            <a:ext cx="1083564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35C8D6"/>
                </a:solidFill>
                <a:latin typeface="Calibri"/>
              </a:rPr>
              <a:t>Program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4956048"/>
            <a:ext cx="10835640" cy="10789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2F6FA"/>
                </a:solidFill>
                <a:latin typeface="Consolas"/>
              </a:rPr>
              <a:t>U = [u₀, u₁, …, u_{N−1}]ᵀ ,   |u_i| ≤ u_max</a:t>
            </a:r>
          </a:p>
          <a:p>
            <a:pPr algn="l">
              <a:lnSpc>
                <a:spcPct val="125000"/>
              </a:lnSpc>
              <a:spcBef>
                <a:spcPts val="400"/>
              </a:spcBef>
              <a:spcAft>
                <a:spcPts val="0"/>
              </a:spcAft>
            </a:pPr>
            <a:r>
              <a:rPr sz="1300" b="0" i="0">
                <a:solidFill>
                  <a:srgbClr val="F2F6FA"/>
                </a:solidFill>
                <a:latin typeface="Consolas"/>
              </a:rPr>
              <a:t>N = min( N_max, max(3, ⌈ t_go / T_s ⌉) )     N_max=25, T_s=2 s, T_c=1 s</a:t>
            </a:r>
          </a:p>
          <a:p>
            <a:pPr algn="l">
              <a:lnSpc>
                <a:spcPct val="125000"/>
              </a:lnSpc>
              <a:spcBef>
                <a:spcPts val="400"/>
              </a:spcBef>
              <a:spcAft>
                <a:spcPts val="0"/>
              </a:spcAft>
            </a:pPr>
            <a:r>
              <a:rPr sz="1300" b="0" i="0">
                <a:solidFill>
                  <a:srgbClr val="F2F6FA"/>
                </a:solidFill>
                <a:latin typeface="Consolas"/>
              </a:rPr>
              <a:t>Warm start: shift previous U one step; pad/trim to length N. Predict with RK4 under frozen ŵ.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473952"/>
            <a:ext cx="10088575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9BB0C4"/>
                </a:solidFill>
                <a:latin typeface="Calibri"/>
              </a:rPr>
              <a:t>Luna · Parafoil NMPC math  ·  source: papers/parafoil_mpc_math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82935" y="6473952"/>
            <a:ext cx="100584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9BB0C4"/>
                </a:solidFill>
                <a:latin typeface="Calibri"/>
              </a:rPr>
              <a:t>7/16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D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47472"/>
            <a:ext cx="128016" cy="128016"/>
          </a:xfrm>
          <a:prstGeom prst="rect">
            <a:avLst/>
          </a:prstGeom>
          <a:solidFill>
            <a:srgbClr val="35C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58952" y="292608"/>
            <a:ext cx="91440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35C8D6"/>
                </a:solidFill>
                <a:latin typeface="Calibri"/>
              </a:rPr>
              <a:t>NMPC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0080"/>
            <a:ext cx="11185855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F2F6FA"/>
                </a:solidFill>
                <a:latin typeface="Calibri"/>
              </a:rPr>
              <a:t>Cost function — what “good” means</a:t>
            </a:r>
          </a:p>
        </p:txBody>
      </p:sp>
      <p:pic>
        <p:nvPicPr>
          <p:cNvPr id="5" name="Picture 4" descr="diagram_co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234440"/>
            <a:ext cx="11155680" cy="4553339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02920" y="4434840"/>
            <a:ext cx="11155680" cy="1737360"/>
          </a:xfrm>
          <a:prstGeom prst="rect">
            <a:avLst/>
          </a:prstGeom>
          <a:solidFill>
            <a:srgbClr val="1631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4434840"/>
            <a:ext cx="45720" cy="1737360"/>
          </a:xfrm>
          <a:prstGeom prst="rect">
            <a:avLst/>
          </a:prstGeom>
          <a:solidFill>
            <a:srgbClr val="35C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4544568"/>
            <a:ext cx="1083564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35C8D6"/>
                </a:solidFill>
                <a:latin typeface="Calibri"/>
              </a:rPr>
              <a:t>Scalar cost (solve with SQP / fmincon; apply only u₀)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4818888"/>
            <a:ext cx="10835640" cy="12618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2F6FA"/>
                </a:solidFill>
                <a:latin typeface="Consolas"/>
              </a:rPr>
              <a:t>J(U) = Σ [ Q_path‖r_i−r_t‖² + R_u u_i² + R_Δu (u_i−u_{i−1})² + 1_{h&lt;h_ap} Q_head e_i² ]</a:t>
            </a:r>
          </a:p>
          <a:p>
            <a:pPr algn="l">
              <a:lnSpc>
                <a:spcPct val="125000"/>
              </a:lnSpc>
              <a:spcBef>
                <a:spcPts val="400"/>
              </a:spcBef>
              <a:spcAft>
                <a:spcPts val="0"/>
              </a:spcAft>
            </a:pPr>
            <a:r>
              <a:rPr sz="1300" b="0" i="0">
                <a:solidFill>
                  <a:srgbClr val="F2F6FA"/>
                </a:solidFill>
                <a:latin typeface="Consolas"/>
              </a:rPr>
              <a:t>     + Q_f (1 + c_term / max(h_{N'}, 5)) ‖r_{N'}−r_t‖²</a:t>
            </a:r>
          </a:p>
          <a:p>
            <a:pPr algn="l">
              <a:lnSpc>
                <a:spcPct val="125000"/>
              </a:lnSpc>
              <a:spcBef>
                <a:spcPts val="400"/>
              </a:spcBef>
              <a:spcAft>
                <a:spcPts val="0"/>
              </a:spcAft>
            </a:pPr>
            <a:r>
              <a:rPr sz="1300" b="0" i="0">
                <a:solidFill>
                  <a:srgbClr val="F2F6FA"/>
                </a:solidFill>
                <a:latin typeface="Consolas"/>
              </a:rPr>
              <a:t>e_i = wrapped heading error to upwind of ŵ     h_ap=60 m</a:t>
            </a:r>
          </a:p>
          <a:p>
            <a:pPr algn="l">
              <a:lnSpc>
                <a:spcPct val="125000"/>
              </a:lnSpc>
              <a:spcBef>
                <a:spcPts val="400"/>
              </a:spcBef>
              <a:spcAft>
                <a:spcPts val="0"/>
              </a:spcAft>
            </a:pPr>
            <a:r>
              <a:rPr sz="1300" b="0" i="0">
                <a:solidFill>
                  <a:srgbClr val="F2F6FA"/>
                </a:solidFill>
                <a:latin typeface="Consolas"/>
              </a:rPr>
              <a:t>Weights: Q_path=0.02, R_u=2, R_Δu=4, Q_f=1, c_term=200, Q_head=40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473952"/>
            <a:ext cx="10088575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9BB0C4"/>
                </a:solidFill>
                <a:latin typeface="Calibri"/>
              </a:rPr>
              <a:t>Luna · Parafoil NMPC math  ·  source: papers/parafoil_mpc_math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82935" y="6473952"/>
            <a:ext cx="100584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9BB0C4"/>
                </a:solidFill>
                <a:latin typeface="Calibri"/>
              </a:rPr>
              <a:t>8/16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D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47472"/>
            <a:ext cx="128016" cy="128016"/>
          </a:xfrm>
          <a:prstGeom prst="rect">
            <a:avLst/>
          </a:prstGeom>
          <a:solidFill>
            <a:srgbClr val="35C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58952" y="292608"/>
            <a:ext cx="91440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35C8D6"/>
                </a:solidFill>
                <a:latin typeface="Calibri"/>
              </a:rPr>
              <a:t>SIMULATION VIDEO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0080"/>
            <a:ext cx="11185855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F2F6FA"/>
                </a:solidFill>
                <a:latin typeface="Calibri"/>
              </a:rPr>
              <a:t>Frames from steady_wind_flight.mp4</a:t>
            </a:r>
          </a:p>
        </p:txBody>
      </p:sp>
      <p:pic>
        <p:nvPicPr>
          <p:cNvPr id="5" name="Picture 4" descr="t00_relea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051560"/>
            <a:ext cx="3982720" cy="22402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02920" y="3310128"/>
            <a:ext cx="534924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35C8D6"/>
                </a:solidFill>
                <a:latin typeface="Calibri"/>
              </a:rPr>
              <a:t>t ≈ 0 s · release</a:t>
            </a:r>
          </a:p>
        </p:txBody>
      </p:sp>
      <p:pic>
        <p:nvPicPr>
          <p:cNvPr id="7" name="Picture 6" descr="t15_homi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051560"/>
            <a:ext cx="3982720" cy="22402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217920" y="3310128"/>
            <a:ext cx="534924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35C8D6"/>
                </a:solidFill>
                <a:latin typeface="Calibri"/>
              </a:rPr>
              <a:t>t ≈ 15 s · homing</a:t>
            </a:r>
          </a:p>
        </p:txBody>
      </p:sp>
      <p:pic>
        <p:nvPicPr>
          <p:cNvPr id="9" name="Picture 8" descr="t40_mi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3675888"/>
            <a:ext cx="3982720" cy="224028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02920" y="5934456"/>
            <a:ext cx="534924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35C8D6"/>
                </a:solidFill>
                <a:latin typeface="Calibri"/>
              </a:rPr>
              <a:t>t ≈ 40 s · mid / loiter</a:t>
            </a:r>
          </a:p>
        </p:txBody>
      </p:sp>
      <p:pic>
        <p:nvPicPr>
          <p:cNvPr id="11" name="Picture 10" descr="t_end_touchdow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17920" y="3675888"/>
            <a:ext cx="3982720" cy="224028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217920" y="5934456"/>
            <a:ext cx="534924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35C8D6"/>
                </a:solidFill>
                <a:latin typeface="Calibri"/>
              </a:rPr>
              <a:t>touchdown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473952"/>
            <a:ext cx="10088575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9BB0C4"/>
                </a:solidFill>
                <a:latin typeface="Calibri"/>
              </a:rPr>
              <a:t>Luna · Parafoil NMPC math  ·  source: papers/parafoil_mpc_math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82935" y="6473952"/>
            <a:ext cx="100584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9BB0C4"/>
                </a:solidFill>
                <a:latin typeface="Calibri"/>
              </a:rPr>
              <a:t>9/16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D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47472"/>
            <a:ext cx="128016" cy="128016"/>
          </a:xfrm>
          <a:prstGeom prst="rect">
            <a:avLst/>
          </a:prstGeom>
          <a:solidFill>
            <a:srgbClr val="35C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58952" y="292608"/>
            <a:ext cx="91440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35C8D6"/>
                </a:solidFill>
                <a:latin typeface="Calibri"/>
              </a:rPr>
              <a:t>SIMULATION VIDEO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0080"/>
            <a:ext cx="11185855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F2F6FA"/>
                </a:solidFill>
                <a:latin typeface="Calibri"/>
              </a:rPr>
              <a:t>Evenly spaced sequence (every ~8 s)</a:t>
            </a:r>
          </a:p>
        </p:txBody>
      </p:sp>
      <p:pic>
        <p:nvPicPr>
          <p:cNvPr id="5" name="Picture 4" descr="vid_seq_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280160"/>
            <a:ext cx="2743200" cy="15430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02920" y="2852928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BB0C4"/>
                </a:solidFill>
                <a:latin typeface="Calibri"/>
              </a:rPr>
              <a:t>frame 1/8</a:t>
            </a:r>
          </a:p>
        </p:txBody>
      </p:sp>
      <p:pic>
        <p:nvPicPr>
          <p:cNvPr id="7" name="Picture 6" descr="vid_seq_0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83280" y="1280160"/>
            <a:ext cx="2743200" cy="154305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3383280" y="2852928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BB0C4"/>
                </a:solidFill>
                <a:latin typeface="Calibri"/>
              </a:rPr>
              <a:t>frame 2/8</a:t>
            </a:r>
          </a:p>
        </p:txBody>
      </p:sp>
      <p:pic>
        <p:nvPicPr>
          <p:cNvPr id="9" name="Picture 8" descr="vid_seq_0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63640" y="1280160"/>
            <a:ext cx="2743200" cy="154305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263640" y="2852928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BB0C4"/>
                </a:solidFill>
                <a:latin typeface="Calibri"/>
              </a:rPr>
              <a:t>frame 3/8</a:t>
            </a:r>
          </a:p>
        </p:txBody>
      </p:sp>
      <p:pic>
        <p:nvPicPr>
          <p:cNvPr id="11" name="Picture 10" descr="vid_seq_0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44000" y="1280160"/>
            <a:ext cx="2743200" cy="154305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9144000" y="2852928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BB0C4"/>
                </a:solidFill>
                <a:latin typeface="Calibri"/>
              </a:rPr>
              <a:t>frame 4/8</a:t>
            </a:r>
          </a:p>
        </p:txBody>
      </p:sp>
      <p:pic>
        <p:nvPicPr>
          <p:cNvPr id="13" name="Picture 12" descr="vid_seq_05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2920" y="3794760"/>
            <a:ext cx="2743200" cy="154305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02920" y="5367528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BB0C4"/>
                </a:solidFill>
                <a:latin typeface="Calibri"/>
              </a:rPr>
              <a:t>frame 5/8</a:t>
            </a:r>
          </a:p>
        </p:txBody>
      </p:sp>
      <p:pic>
        <p:nvPicPr>
          <p:cNvPr id="15" name="Picture 14" descr="vid_seq_06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83280" y="3794760"/>
            <a:ext cx="2743200" cy="154305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3383280" y="5367528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BB0C4"/>
                </a:solidFill>
                <a:latin typeface="Calibri"/>
              </a:rPr>
              <a:t>frame 6/8</a:t>
            </a:r>
          </a:p>
        </p:txBody>
      </p:sp>
      <p:pic>
        <p:nvPicPr>
          <p:cNvPr id="17" name="Picture 16" descr="vid_seq_07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63640" y="3794760"/>
            <a:ext cx="2743200" cy="154305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6263640" y="5367528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BB0C4"/>
                </a:solidFill>
                <a:latin typeface="Calibri"/>
              </a:rPr>
              <a:t>frame 7/8</a:t>
            </a:r>
          </a:p>
        </p:txBody>
      </p:sp>
      <p:pic>
        <p:nvPicPr>
          <p:cNvPr id="19" name="Picture 18" descr="vid_seq_08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144000" y="3794760"/>
            <a:ext cx="2743200" cy="154305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9144000" y="5367528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BB0C4"/>
                </a:solidFill>
                <a:latin typeface="Calibri"/>
              </a:rPr>
              <a:t>frame 8/8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6263640"/>
            <a:ext cx="1118585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BB0C4"/>
                </a:solidFill>
                <a:latin typeface="Calibri"/>
              </a:rPr>
              <a:t>Full video: presentation/assets/steady_wind_flight.mp4  (also parafoil_sim/output/steady_wind_flight.mp4)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473952"/>
            <a:ext cx="10088575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9BB0C4"/>
                </a:solidFill>
                <a:latin typeface="Calibri"/>
              </a:rPr>
              <a:t>Luna · Parafoil NMPC math  ·  source: papers/parafoil_mpc_math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82935" y="6473952"/>
            <a:ext cx="100584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9BB0C4"/>
                </a:solidFill>
                <a:latin typeface="Calibri"/>
              </a:rPr>
              <a:t>10/16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D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47472"/>
            <a:ext cx="128016" cy="128016"/>
          </a:xfrm>
          <a:prstGeom prst="rect">
            <a:avLst/>
          </a:prstGeom>
          <a:solidFill>
            <a:srgbClr val="35C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58952" y="292608"/>
            <a:ext cx="91440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35C8D6"/>
                </a:solidFill>
                <a:latin typeface="Calibri"/>
              </a:rPr>
              <a:t>RESULTS · KINEMATIC NMPC (ALGO/MPC_V1)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0080"/>
            <a:ext cx="11185855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F2F6FA"/>
                </a:solidFill>
                <a:latin typeface="Calibri"/>
              </a:rPr>
              <a:t>Ground track under sheared / gusty truth wind</a:t>
            </a:r>
          </a:p>
        </p:txBody>
      </p:sp>
      <p:pic>
        <p:nvPicPr>
          <p:cNvPr id="5" name="Picture 4" descr="mpc_ground_tra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234440"/>
            <a:ext cx="6400800" cy="48006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7040880" y="1371600"/>
            <a:ext cx="4572000" cy="4389120"/>
          </a:xfrm>
          <a:prstGeom prst="rect">
            <a:avLst/>
          </a:prstGeom>
          <a:solidFill>
            <a:srgbClr val="1631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269480" y="1554480"/>
            <a:ext cx="4160520" cy="4023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35C8D6"/>
                </a:solidFill>
                <a:latin typeface="Calibri"/>
              </a:rPr>
              <a:t>What this plot shows</a:t>
            </a:r>
          </a:p>
          <a:p>
            <a:pPr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</a:pPr>
            <a:r>
              <a:rPr sz="1300" b="0" i="0">
                <a:solidFill>
                  <a:srgbClr val="F2F6FA"/>
                </a:solidFill>
                <a:latin typeface="Calibri"/>
              </a:rPr>
              <a:t>• Flight time ≈ 142.9 s
• Python-port miss ≈ 13.1 m (seed 2)
• Paper (MATLAB rng) miss ≈ 22.2 m (seed 2)
• Same equations; RNG streams differ
Grey arrows = truth wind samples along the path.
Red star = pad. White circle = release.
Qualitative pattern (paper):
clear large offset early; terminal weight + upwind heading dominate the last tens of meters.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10088575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9BB0C4"/>
                </a:solidFill>
                <a:latin typeface="Calibri"/>
              </a:rPr>
              <a:t>Luna · Parafoil NMPC math  ·  source: papers/parafoil_mpc_math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82935" y="6473952"/>
            <a:ext cx="100584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9BB0C4"/>
                </a:solidFill>
                <a:latin typeface="Calibri"/>
              </a:rPr>
              <a:t>11/16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D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47472"/>
            <a:ext cx="128016" cy="128016"/>
          </a:xfrm>
          <a:prstGeom prst="rect">
            <a:avLst/>
          </a:prstGeom>
          <a:solidFill>
            <a:srgbClr val="35C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58952" y="292608"/>
            <a:ext cx="91440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35C8D6"/>
                </a:solidFill>
                <a:latin typeface="Calibri"/>
              </a:rPr>
              <a:t>RESULTS · KINEMATIC NMPC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0080"/>
            <a:ext cx="11185855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F2F6FA"/>
                </a:solidFill>
                <a:latin typeface="Calibri"/>
              </a:rPr>
              <a:t>Control effort and wind estimate vs truth</a:t>
            </a:r>
          </a:p>
        </p:txBody>
      </p:sp>
      <p:pic>
        <p:nvPicPr>
          <p:cNvPr id="5" name="Picture 4" descr="mpc_control_wi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234440"/>
            <a:ext cx="7315200" cy="56692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589520" y="1417320"/>
            <a:ext cx="41148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35C8D6"/>
                </a:solidFill>
                <a:latin typeface="Calibri"/>
              </a:rPr>
              <a:t>1. Heading rate u(t)</a:t>
            </a:r>
          </a:p>
          <a:p>
            <a:pPr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</a:pPr>
            <a:r>
              <a:rPr sz="1200" b="0" i="0">
                <a:solidFill>
                  <a:srgbClr val="9BB0C4"/>
                </a:solidFill>
                <a:latin typeface="Calibri"/>
              </a:rPr>
              <a:t>Stays inside ±u_max. Red dashed = bank limits.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89520" y="2194560"/>
            <a:ext cx="41148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35C8D6"/>
                </a:solidFill>
                <a:latin typeface="Calibri"/>
              </a:rPr>
              <a:t>2. W_x / W_y</a:t>
            </a:r>
          </a:p>
          <a:p>
            <a:pPr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</a:pPr>
            <a:r>
              <a:rPr sz="1200" b="0" i="0">
                <a:solidFill>
                  <a:srgbClr val="9BB0C4"/>
                </a:solidFill>
                <a:latin typeface="Calibri"/>
              </a:rPr>
              <a:t>Blue = truth (shear + OU). Orange dashed = ŵ from GPS LPF.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89520" y="2971800"/>
            <a:ext cx="41148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35C8D6"/>
                </a:solidFill>
                <a:latin typeface="Calibri"/>
              </a:rPr>
              <a:t>3. Lag is visible</a:t>
            </a:r>
          </a:p>
          <a:p>
            <a:pPr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</a:pPr>
            <a:r>
              <a:rPr sz="1200" b="0" i="0">
                <a:solidFill>
                  <a:srgbClr val="9BB0C4"/>
                </a:solidFill>
                <a:latin typeface="Calibri"/>
              </a:rPr>
              <a:t>Estimator trails gusts; NMPC still closes because it replans.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10088575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9BB0C4"/>
                </a:solidFill>
                <a:latin typeface="Calibri"/>
              </a:rPr>
              <a:t>Luna · Parafoil NMPC math  ·  source: papers/parafoil_mpc_math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82935" y="6473952"/>
            <a:ext cx="100584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9BB0C4"/>
                </a:solidFill>
                <a:latin typeface="Calibri"/>
              </a:rPr>
              <a:t>12/16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D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47472"/>
            <a:ext cx="128016" cy="128016"/>
          </a:xfrm>
          <a:prstGeom prst="rect">
            <a:avLst/>
          </a:prstGeom>
          <a:solidFill>
            <a:srgbClr val="35C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58952" y="292608"/>
            <a:ext cx="91440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35C8D6"/>
                </a:solidFill>
                <a:latin typeface="Calibri"/>
              </a:rPr>
              <a:t>RESULTS · KINEMATIC NMPC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0080"/>
            <a:ext cx="11185855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F2F6FA"/>
                </a:solidFill>
                <a:latin typeface="Calibri"/>
              </a:rPr>
              <a:t>Closing the pad &amp; 3-D descent</a:t>
            </a:r>
          </a:p>
        </p:txBody>
      </p:sp>
      <p:pic>
        <p:nvPicPr>
          <p:cNvPr id="5" name="Picture 4" descr="mpc_range_vs_al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280160"/>
            <a:ext cx="5577840" cy="3553936"/>
          </a:xfrm>
          <a:prstGeom prst="rect">
            <a:avLst/>
          </a:prstGeom>
        </p:spPr>
      </p:pic>
      <p:pic>
        <p:nvPicPr>
          <p:cNvPr id="6" name="Picture 5" descr="mpc_trajectory_3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1280160"/>
            <a:ext cx="5394960" cy="40462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" y="5806440"/>
            <a:ext cx="11185855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9BB0C4"/>
                </a:solidFill>
                <a:latin typeface="Calibri"/>
              </a:rPr>
              <a:t>Left: distance-to-pad vs altitude (altitude axis reversed — reading left→right is descending). Right: same trajectory in 3-D.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10088575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9BB0C4"/>
                </a:solidFill>
                <a:latin typeface="Calibri"/>
              </a:rPr>
              <a:t>Luna · Parafoil NMPC math  ·  source: papers/parafoil_mpc_math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82935" y="6473952"/>
            <a:ext cx="100584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9BB0C4"/>
                </a:solidFill>
                <a:latin typeface="Calibri"/>
              </a:rPr>
              <a:t>13/16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D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47472"/>
            <a:ext cx="128016" cy="128016"/>
          </a:xfrm>
          <a:prstGeom prst="rect">
            <a:avLst/>
          </a:prstGeom>
          <a:solidFill>
            <a:srgbClr val="35C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58952" y="292608"/>
            <a:ext cx="91440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35C8D6"/>
                </a:solidFill>
                <a:latin typeface="Calibri"/>
              </a:rPr>
              <a:t>RESULTS · 6-DOF PROJECT SIMULATOR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0080"/>
            <a:ext cx="11185855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F2F6FA"/>
                </a:solidFill>
                <a:latin typeface="Calibri"/>
              </a:rPr>
              <a:t>parafoil_sim steady_wind — phased ground track</a:t>
            </a:r>
          </a:p>
        </p:txBody>
      </p:sp>
      <p:pic>
        <p:nvPicPr>
          <p:cNvPr id="5" name="Picture 4" descr="sim_steady_wind_tra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234440"/>
            <a:ext cx="6400800" cy="4800600"/>
          </a:xfrm>
          <a:prstGeom prst="rect">
            <a:avLst/>
          </a:prstGeom>
        </p:spPr>
      </p:pic>
      <p:pic>
        <p:nvPicPr>
          <p:cNvPr id="6" name="Picture 5" descr="preview_follo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0880" y="1280160"/>
            <a:ext cx="4572000" cy="2836333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040880" y="4297680"/>
            <a:ext cx="4572000" cy="1737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35C8D6"/>
                </a:solidFill>
                <a:latin typeface="Calibri"/>
              </a:rPr>
              <a:t>steady_wind summary</a:t>
            </a:r>
          </a:p>
          <a:p>
            <a:pPr algn="l">
              <a:lnSpc>
                <a:spcPct val="135000"/>
              </a:lnSpc>
              <a:spcBef>
                <a:spcPts val="600"/>
              </a:spcBef>
              <a:spcAft>
                <a:spcPts val="0"/>
              </a:spcAft>
            </a:pPr>
            <a:r>
              <a:rPr sz="1300" b="0" i="0">
                <a:solidFill>
                  <a:srgbClr val="F2F6FA"/>
                </a:solidFill>
                <a:latin typeface="Consolas"/>
              </a:rPr>
              <a:t>miss = 9.6 m
flight = 233 s
touchdown ground speed = 3.9 m/s
flare triggered = True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10088575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9BB0C4"/>
                </a:solidFill>
                <a:latin typeface="Calibri"/>
              </a:rPr>
              <a:t>Luna · Parafoil NMPC math  ·  source: papers/parafoil_mpc_math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82935" y="6473952"/>
            <a:ext cx="100584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9BB0C4"/>
                </a:solidFill>
                <a:latin typeface="Calibri"/>
              </a:rPr>
              <a:t>14/16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D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47472"/>
            <a:ext cx="128016" cy="128016"/>
          </a:xfrm>
          <a:prstGeom prst="rect">
            <a:avLst/>
          </a:prstGeom>
          <a:solidFill>
            <a:srgbClr val="35C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58952" y="292608"/>
            <a:ext cx="91440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35C8D6"/>
                </a:solidFill>
                <a:latin typeface="Calibri"/>
              </a:rPr>
              <a:t>RESULTS · 6-DOF PROJECT SIMULATOR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0080"/>
            <a:ext cx="11185855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F2F6FA"/>
                </a:solidFill>
                <a:latin typeface="Calibri"/>
              </a:rPr>
              <a:t>Scenario sweep — miss distances</a:t>
            </a:r>
          </a:p>
        </p:txBody>
      </p:sp>
      <p:pic>
        <p:nvPicPr>
          <p:cNvPr id="5" name="Picture 4" descr="sim_calm_tra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188720"/>
            <a:ext cx="5577840" cy="41833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02920" y="3337560"/>
            <a:ext cx="557784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35C8D6"/>
                </a:solidFill>
                <a:latin typeface="Calibri"/>
              </a:rPr>
              <a:t>Calm: miss 20.2 m</a:t>
            </a:r>
          </a:p>
        </p:txBody>
      </p:sp>
      <p:pic>
        <p:nvPicPr>
          <p:cNvPr id="7" name="Picture 6" descr="sim_steady_wind_tra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1188720"/>
            <a:ext cx="5577840" cy="41833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309360" y="3337560"/>
            <a:ext cx="557784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35C8D6"/>
                </a:solidFill>
                <a:latin typeface="Calibri"/>
              </a:rPr>
              <a:t>Steady wind: miss 9.6 m</a:t>
            </a:r>
          </a:p>
        </p:txBody>
      </p:sp>
      <p:pic>
        <p:nvPicPr>
          <p:cNvPr id="9" name="Picture 8" descr="sim_shear_turbulence_tra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3794760"/>
            <a:ext cx="5577840" cy="418338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02920" y="5943600"/>
            <a:ext cx="557784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35C8D6"/>
                </a:solidFill>
                <a:latin typeface="Calibri"/>
              </a:rPr>
              <a:t>Shear + turbulence: miss 17.0 m</a:t>
            </a:r>
          </a:p>
        </p:txBody>
      </p:sp>
      <p:pic>
        <p:nvPicPr>
          <p:cNvPr id="11" name="Picture 10" descr="sim_strong_gusts_tra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09360" y="3794760"/>
            <a:ext cx="5577840" cy="418338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309360" y="5943600"/>
            <a:ext cx="557784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35C8D6"/>
                </a:solidFill>
                <a:latin typeface="Calibri"/>
              </a:rPr>
              <a:t>Strong gusts: miss 22.9 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473952"/>
            <a:ext cx="10088575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9BB0C4"/>
                </a:solidFill>
                <a:latin typeface="Calibri"/>
              </a:rPr>
              <a:t>Luna · Parafoil NMPC math  ·  source: papers/parafoil_mpc_math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82935" y="6473952"/>
            <a:ext cx="100584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9BB0C4"/>
                </a:solidFill>
                <a:latin typeface="Calibri"/>
              </a:rPr>
              <a:t>15/16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D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47472"/>
            <a:ext cx="128016" cy="128016"/>
          </a:xfrm>
          <a:prstGeom prst="rect">
            <a:avLst/>
          </a:prstGeom>
          <a:solidFill>
            <a:srgbClr val="35C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58952" y="292608"/>
            <a:ext cx="91440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35C8D6"/>
                </a:solidFill>
                <a:latin typeface="Calibri"/>
              </a:rPr>
              <a:t>TAKEAWAYS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0080"/>
            <a:ext cx="11185855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F2F6FA"/>
                </a:solidFill>
                <a:latin typeface="Calibri"/>
              </a:rPr>
              <a:t>What the math is saying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417320"/>
            <a:ext cx="3566160" cy="2194560"/>
          </a:xfrm>
          <a:prstGeom prst="rect">
            <a:avLst/>
          </a:prstGeom>
          <a:solidFill>
            <a:srgbClr val="1631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1417320"/>
            <a:ext cx="54864" cy="2194560"/>
          </a:xfrm>
          <a:prstGeom prst="rect">
            <a:avLst/>
          </a:prstGeom>
          <a:solidFill>
            <a:srgbClr val="35C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00200"/>
            <a:ext cx="310896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35C8D6"/>
                </a:solidFill>
                <a:latin typeface="Calibri"/>
              </a:rPr>
              <a:t>Transparent plant</a:t>
            </a:r>
          </a:p>
          <a:p>
            <a:pPr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</a:pPr>
            <a:r>
              <a:rPr sz="1300" b="0" i="0">
                <a:solidFill>
                  <a:srgbClr val="9BB0C4"/>
                </a:solidFill>
                <a:latin typeface="Calibri"/>
              </a:rPr>
              <a:t>3-DOF kinematics + fixed glide. Wind is the hard part, not aeroelasticity.</a:t>
            </a:r>
          </a:p>
        </p:txBody>
      </p:sp>
      <p:sp>
        <p:nvSpPr>
          <p:cNvPr id="8" name="Rectangle 7"/>
          <p:cNvSpPr/>
          <p:nvPr/>
        </p:nvSpPr>
        <p:spPr>
          <a:xfrm>
            <a:off x="4297680" y="1417320"/>
            <a:ext cx="3566160" cy="2194560"/>
          </a:xfrm>
          <a:prstGeom prst="rect">
            <a:avLst/>
          </a:prstGeom>
          <a:solidFill>
            <a:srgbClr val="1631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297680" y="1417320"/>
            <a:ext cx="54864" cy="2194560"/>
          </a:xfrm>
          <a:prstGeom prst="rect">
            <a:avLst/>
          </a:prstGeom>
          <a:solidFill>
            <a:srgbClr val="35C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0" y="1600200"/>
            <a:ext cx="310896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35C8D6"/>
                </a:solidFill>
                <a:latin typeface="Calibri"/>
              </a:rPr>
              <a:t>Estimate ≠ truth</a:t>
            </a:r>
          </a:p>
          <a:p>
            <a:pPr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</a:pPr>
            <a:r>
              <a:rPr sz="1300" b="0" i="0">
                <a:solidFill>
                  <a:srgbClr val="9BB0C4"/>
                </a:solidFill>
                <a:latin typeface="Calibri"/>
              </a:rPr>
              <a:t>ŵ is a lagged, noisy reconstruction held frozen in prediction.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92440" y="1417320"/>
            <a:ext cx="3566160" cy="2194560"/>
          </a:xfrm>
          <a:prstGeom prst="rect">
            <a:avLst/>
          </a:prstGeom>
          <a:solidFill>
            <a:srgbClr val="1631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092440" y="1417320"/>
            <a:ext cx="54864" cy="2194560"/>
          </a:xfrm>
          <a:prstGeom prst="rect">
            <a:avLst/>
          </a:prstGeom>
          <a:solidFill>
            <a:srgbClr val="35C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66760" y="1600200"/>
            <a:ext cx="310896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35C8D6"/>
                </a:solidFill>
                <a:latin typeface="Calibri"/>
              </a:rPr>
              <a:t>Replan absorbs mismatch</a:t>
            </a:r>
          </a:p>
          <a:p>
            <a:pPr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</a:pPr>
            <a:r>
              <a:rPr sz="1300" b="0" i="0">
                <a:solidFill>
                  <a:srgbClr val="9BB0C4"/>
                </a:solidFill>
                <a:latin typeface="Calibri"/>
              </a:rPr>
              <a:t>Structural shear/gust error is acceptable if you replan every Tc.</a:t>
            </a:r>
          </a:p>
        </p:txBody>
      </p:sp>
      <p:pic>
        <p:nvPicPr>
          <p:cNvPr id="14" name="Picture 13" descr="rough_sket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3840480"/>
            <a:ext cx="2335867" cy="22860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4297680" y="3931920"/>
            <a:ext cx="7315200" cy="2103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35C8D6"/>
                </a:solidFill>
                <a:latin typeface="Calibri"/>
              </a:rPr>
              <a:t>Sources in this deck</a:t>
            </a:r>
          </a:p>
          <a:p>
            <a:pPr algn="l">
              <a:lnSpc>
                <a:spcPct val="135000"/>
              </a:lnSpc>
              <a:spcBef>
                <a:spcPts val="800"/>
              </a:spcBef>
              <a:spcAft>
                <a:spcPts val="0"/>
              </a:spcAft>
            </a:pPr>
            <a:r>
              <a:rPr sz="1300" b="0" i="0">
                <a:solidFill>
                  <a:srgbClr val="F2F6FA"/>
                </a:solidFill>
                <a:latin typeface="Calibri"/>
              </a:rPr>
              <a:t>• Math: papers/parafoil_mpc_math.pdf  +  algo/mpc_v1/*.m
• Plots: regenerated by presentation/gen_math_assets.py
• Video / frames: parafoil_sim/output/steady_wind_flight.mp4
• 6-DOF results: parafoil_sim/output/*_flight.json
• Hardware sketch: rough sketch.png (project)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6473952"/>
            <a:ext cx="10088575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9BB0C4"/>
                </a:solidFill>
                <a:latin typeface="Calibri"/>
              </a:rPr>
              <a:t>Luna · Parafoil NMPC math  ·  source: papers/parafoil_mpc_math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82935" y="6473952"/>
            <a:ext cx="100584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9BB0C4"/>
                </a:solidFill>
                <a:latin typeface="Calibri"/>
              </a:rPr>
              <a:t>16/16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