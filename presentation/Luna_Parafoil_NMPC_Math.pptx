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8D6"/>
                </a:solidFill>
                <a:latin typeface="Calibri"/>
              </a:rPr>
              <a:t>GUIDED PARACHUTE PROJECT  ·  MATH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6858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2F6FA"/>
                </a:solidFill>
                <a:latin typeface="Calibri"/>
              </a:rPr>
              <a:t>Nonlinear MPC for
Parafoil Return-to-Pad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657600"/>
            <a:ext cx="1463040" cy="36576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88620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BB0C4"/>
                </a:solidFill>
                <a:latin typeface="Calibri"/>
              </a:rPr>
              <a:t>Equations from papers/parafoil_mpc_math.pdf — kinematic plant, power-law + OU wind, GPS wind estimate, shrinking-horizon NMPC — plus results and frames from the project simulator.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Hudson Kim  ·  editable PowerPoint  ·  project assets only</a:t>
            </a:r>
          </a:p>
        </p:txBody>
      </p:sp>
      <p:pic>
        <p:nvPicPr>
          <p:cNvPr id="8" name="Picture 7" descr="t40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17320"/>
            <a:ext cx="4297680" cy="24174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How the pieces connect</a:t>
            </a:r>
          </a:p>
        </p:txBody>
      </p:sp>
      <p:pic>
        <p:nvPicPr>
          <p:cNvPr id="5" name="Picture 4" descr="diagram_closed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1155680" cy="4462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074920"/>
            <a:ext cx="1118585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Key idea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9BB0C4"/>
                </a:solidFill>
                <a:latin typeface="Calibri"/>
              </a:rPr>
              <a:t>The plant always feels truth wind (shear + gusts). The controller never sees that wind — only a filtered estimate ŵ held constant inside each NMPC prediction. Receding-horizon replanning every Tc = 1 s is what absorbs the mismatch.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VEHICLE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State, control, coordinated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852160" cy="233172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45720" cy="233172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Definitions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01368"/>
            <a:ext cx="5532120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x = [ p_x,  p_y,  h,  ψ ]ᵀ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u = ψ̇          |u| ≤ u_max = 0.35 rad/s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u = (g / V_h) tan φ     (coordinated turn)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1. State x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Planar position, altitude above the pad plane, air-relative heading.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2. Control u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Commanded heading rate. Physical actuator = asymmetric brake deflection.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7180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3. Bank limit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The bound on u is a bank-angle limit via the coordinated-turn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23360"/>
            <a:ext cx="1118585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5C8D6"/>
                </a:solidFill>
                <a:latin typeface="Calibri"/>
              </a:rPr>
              <a:t>Defaults used in the paper / algo/mpc_v1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F6FA"/>
                </a:solidFill>
                <a:latin typeface="Consolas"/>
              </a:rPr>
              <a:t>V_h = 7.0 m/s    V_v = 3.5 m/s    glide ratio = 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0">
                <a:solidFill>
                  <a:srgbClr val="F2F6FA"/>
                </a:solidFill>
                <a:latin typeface="Consolas"/>
              </a:rPr>
              <a:t>x₀ = [650, −450, 500, π/2]ᵀ m,rad     r_t = [0, 0]ᵀ (pad)</a:t>
            </a:r>
          </a:p>
          <a:p>
            <a:pPr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Why this order? Fixed glide numbers make time-to-go a pure function of altitude: t_go = h / V_v. That fact drives the shrinking horizon later.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VEHICLE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Kinematic dynamics — where wind enters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486400" cy="292608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45720" cy="292608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3-DOF plant  (eq. dynamics)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5166360" cy="2450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ẋ = V_h cos ψ  +  w_x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ẏ = V_h sin ψ  +  w_y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ḣ = −V_v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ψ̇ = u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t_go = h / V_v</a:t>
            </a:r>
          </a:p>
        </p:txBody>
      </p:sp>
      <p:pic>
        <p:nvPicPr>
          <p:cNvPr id="9" name="Picture 8" descr="diagram_kin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25880"/>
            <a:ext cx="5577840" cy="409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572000"/>
            <a:ext cx="1118585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5C8D6"/>
                </a:solidFill>
                <a:latin typeface="Calibri"/>
              </a:rPr>
              <a:t>Reading the equations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• Horizontal ground velocity is air velocity plus wind — wind can rival V_h near the surface.
• Altitude falls at a fixed sink rate, so remaining flight time is a clock.
• The only decision the guidance law makes is the heading-rate sequence u(t).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ATMOSPHERE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Truth wind: shear + gusts (controller never sees this)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303520" cy="310896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45720" cy="310896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Power law + Ornstein–Uhlenbeck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4983480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w(h,t) = w_mean(h) + ξ(t)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|w_mean| = W₁₀ (max(h,h_min)/10)^α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w_mean = |w_mean| [cos θ_w, sin θ_w]ᵀ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ξ_{k+1} = (1 − Δt/τ_g) ξ_k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         + σ_g √(2Δt/τ_g) η_k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η_k ~ N(0, I₂)</a:t>
            </a:r>
          </a:p>
        </p:txBody>
      </p:sp>
      <p:pic>
        <p:nvPicPr>
          <p:cNvPr id="9" name="Picture 8" descr="diagram_w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2782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858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Defaults: W₁₀ = 3 m/s, θ_w = 210°, α = 0.14, h_min = 2 m, τ_g = 8 s, σ_g = 0.8 m/s. OU is a lightweight stand-in for Dryden turbulence — enough to stress guidance without full spectral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SENSING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GPS sensing → low-pass wind estimate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6400800" cy="320040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45720" cy="320040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6080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Estimator (runs every plant step Δt)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6080760" cy="2724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v_air = V_h [cos ψ, sin ψ]ᵀ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v_GPS = v_air + w + ν,   ν ~ N(0, σ_GPS² I)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w_raw = v_GPS − v_air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ŵ ← ŵ + a (w_raw − ŵ)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a = Δt / (Δt + τ_e)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NMPC holds ŵ constant over the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1732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1. Assumes known airspeed &amp; heading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Navigation errors beyond ground-velocity noise are out of scope in the paper.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19456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2. σ_GPS = 0.2 m/s, τ_e = 5 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Filter trades noise rejection against lag on shear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97180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3. Frozen ŵ in prediction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Structural mismatch vs altitude-varying truth — fixed by replanning.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NMPC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Decision variables and shrinking horizon</a:t>
            </a:r>
          </a:p>
        </p:txBody>
      </p:sp>
      <p:pic>
        <p:nvPicPr>
          <p:cNvPr id="5" name="Picture 4" descr="diagram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155680" cy="48892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4572000"/>
            <a:ext cx="11155680" cy="155448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572000"/>
            <a:ext cx="45720" cy="155448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681728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56048"/>
            <a:ext cx="108356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U = [u₀, u₁, …, u_{N−1}]ᵀ ,   |u_i| ≤ u_max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N = min( N_max, max(3, ⌈ t_go / T_s ⌉) )     N_max=25, T_s=2 s, T_c=1 s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Warm start: shift previous U one step; pad/trim to length N. Predict with RK4 under frozen 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NMPC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Cost function — what “good” means</a:t>
            </a:r>
          </a:p>
        </p:txBody>
      </p:sp>
      <p:pic>
        <p:nvPicPr>
          <p:cNvPr id="5" name="Picture 4" descr="diagram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45533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4434840"/>
            <a:ext cx="11155680" cy="173736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434840"/>
            <a:ext cx="45720" cy="173736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544568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Scalar cost (solve with SQP / fmincon; apply only u₀)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18888"/>
            <a:ext cx="1083564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J(U) = Σ [ Q_path‖r_i−r_t‖² + R_u u_i² + R_Δu (u_i−u_{i−1})² + 1_{h&lt;h_ap} Q_head e_i² ]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     + Q_f (1 + c_term / max(h_{N'}, 5)) ‖r_{N'}−r_t‖²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e_i = wrapped heading error to upwind of ŵ     h_ap=60 m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Weights: Q_path=0.02, R_u=2, R_Δu=4, Q_f=1, c_term=200, Q_head=40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SIMULATION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Frames from steady_wind_flight.mp4</a:t>
            </a:r>
          </a:p>
        </p:txBody>
      </p:sp>
      <p:pic>
        <p:nvPicPr>
          <p:cNvPr id="5" name="Picture 4" descr="t00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394960" cy="30346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3832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t ≈ 0 s  ·  release</a:t>
            </a:r>
          </a:p>
        </p:txBody>
      </p:sp>
      <p:pic>
        <p:nvPicPr>
          <p:cNvPr id="7" name="Picture 6" descr="t15_hom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394960" cy="30346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3832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t ≈ 15 s  ·  homing</a:t>
            </a:r>
          </a:p>
        </p:txBody>
      </p:sp>
      <p:pic>
        <p:nvPicPr>
          <p:cNvPr id="9" name="Picture 8" descr="t40_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794760"/>
            <a:ext cx="5394960" cy="30346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9436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t ≈ 40 s  ·  mid-course</a:t>
            </a:r>
          </a:p>
        </p:txBody>
      </p:sp>
      <p:pic>
        <p:nvPicPr>
          <p:cNvPr id="11" name="Picture 10" descr="t55_approa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794760"/>
            <a:ext cx="5394960" cy="30346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436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t ≈ 55 s  ·  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SIMULATION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Evenly spaced sequence (every ~8 s)</a:t>
            </a:r>
          </a:p>
        </p:txBody>
      </p:sp>
      <p:pic>
        <p:nvPicPr>
          <p:cNvPr id="5" name="Picture 4" descr="vid_seq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2743200" cy="1543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8529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1/8</a:t>
            </a:r>
          </a:p>
        </p:txBody>
      </p:sp>
      <p:pic>
        <p:nvPicPr>
          <p:cNvPr id="7" name="Picture 6" descr="vid_seq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280160"/>
            <a:ext cx="2743200" cy="15430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83280" y="28529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2/8</a:t>
            </a:r>
          </a:p>
        </p:txBody>
      </p:sp>
      <p:pic>
        <p:nvPicPr>
          <p:cNvPr id="9" name="Picture 8" descr="vid_seq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80160"/>
            <a:ext cx="2743200" cy="1543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28529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3/8</a:t>
            </a:r>
          </a:p>
        </p:txBody>
      </p:sp>
      <p:pic>
        <p:nvPicPr>
          <p:cNvPr id="11" name="Picture 10" descr="vid_seq_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280160"/>
            <a:ext cx="2743200" cy="15430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0" y="28529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4/8</a:t>
            </a:r>
          </a:p>
        </p:txBody>
      </p:sp>
      <p:pic>
        <p:nvPicPr>
          <p:cNvPr id="13" name="Picture 12" descr="vid_seq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794760"/>
            <a:ext cx="2743200" cy="15430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5367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5/8</a:t>
            </a:r>
          </a:p>
        </p:txBody>
      </p:sp>
      <p:pic>
        <p:nvPicPr>
          <p:cNvPr id="15" name="Picture 14" descr="vid_seq_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794760"/>
            <a:ext cx="2743200" cy="15430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83280" y="5367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6/8</a:t>
            </a:r>
          </a:p>
        </p:txBody>
      </p:sp>
      <p:pic>
        <p:nvPicPr>
          <p:cNvPr id="17" name="Picture 16" descr="vid_seq_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3794760"/>
            <a:ext cx="2743200" cy="15430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5367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7/8</a:t>
            </a:r>
          </a:p>
        </p:txBody>
      </p:sp>
      <p:pic>
        <p:nvPicPr>
          <p:cNvPr id="19" name="Picture 18" descr="vid_seq_0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0" y="3794760"/>
            <a:ext cx="2743200" cy="15430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44000" y="5367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BB0C4"/>
                </a:solidFill>
                <a:latin typeface="Calibri"/>
              </a:rPr>
              <a:t>frame 8/8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2636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BB0C4"/>
                </a:solidFill>
                <a:latin typeface="Calibri"/>
              </a:rPr>
              <a:t>Full video: presentation/assets/steady_wind_flight.mp4  (also parafoil_sim/output/steady_wind_flight.mp4)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RESULTS · KINEMATIC NMPC (ALGO/MPC_V1)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Ground track under sheared / gusty truth wind</a:t>
            </a:r>
          </a:p>
        </p:txBody>
      </p:sp>
      <p:pic>
        <p:nvPicPr>
          <p:cNvPr id="5" name="Picture 4" descr="mpc_ground_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40080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0" y="1371600"/>
            <a:ext cx="4572000" cy="438912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1554480"/>
            <a:ext cx="41605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What this plot shows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alibri"/>
              </a:rPr>
              <a:t>• Flight time ≈ 142.9 s
• Python-port miss ≈ 13.1 m (seed 2)
• Paper (MATLAB rng) miss ≈ 22.2 m (seed 2)
• Same equations; RNG streams differ
Grey arrows = truth wind samples along the path.
Red star = pad. White circle = release.
Qualitative pattern (paper):
clear large offset early; terminal weight + upwind heading dominate the last tens of meters.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RESULTS · KINEMATIC NMPC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Control effort and wind estimate vs truth</a:t>
            </a:r>
          </a:p>
        </p:txBody>
      </p:sp>
      <p:pic>
        <p:nvPicPr>
          <p:cNvPr id="5" name="Picture 4" descr="mpc_control_w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7315200" cy="5669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417320"/>
            <a:ext cx="4114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1. Heading rate u(t)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Stays inside ±u_max. Red dashed = bank limits.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94560"/>
            <a:ext cx="4114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2. W_x / W_y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Blue = truth (shear + OU). Orange dashed = ŵ from GPS LPF.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971800"/>
            <a:ext cx="4114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3. Lag is visible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9BB0C4"/>
                </a:solidFill>
                <a:latin typeface="Calibri"/>
              </a:rPr>
              <a:t>Estimator trails gusts; NMPC still closes because it replans.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RESULTS · KINEMATIC NMPC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Closing the pad &amp; 3-D descent</a:t>
            </a:r>
          </a:p>
        </p:txBody>
      </p:sp>
      <p:pic>
        <p:nvPicPr>
          <p:cNvPr id="5" name="Picture 4" descr="mpc_range_vs_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5577840" cy="3553936"/>
          </a:xfrm>
          <a:prstGeom prst="rect">
            <a:avLst/>
          </a:prstGeom>
        </p:spPr>
      </p:pic>
      <p:pic>
        <p:nvPicPr>
          <p:cNvPr id="6" name="Picture 5" descr="mpc_trajectory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394960" cy="40462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Left: distance-to-pad vs altitude (altitude axis reversed — reading left→right is descending). Right: same trajectory in 3-D.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RESULTS · 6-DOF PROJECT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parafoil_sim steady_wind — phased ground track</a:t>
            </a:r>
          </a:p>
        </p:txBody>
      </p:sp>
      <p:pic>
        <p:nvPicPr>
          <p:cNvPr id="5" name="Picture 4" descr="sim_steady_wind_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400800" cy="4800600"/>
          </a:xfrm>
          <a:prstGeom prst="rect">
            <a:avLst/>
          </a:prstGeom>
        </p:spPr>
      </p:pic>
      <p:pic>
        <p:nvPicPr>
          <p:cNvPr id="6" name="Picture 5" descr="preview_fol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280160"/>
            <a:ext cx="4572000" cy="2836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42976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5C8D6"/>
                </a:solidFill>
                <a:latin typeface="Calibri"/>
              </a:rPr>
              <a:t>steady_wind summary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onsolas"/>
              </a:rPr>
              <a:t>miss = 9.6 m
flight = 233 s
touchdown ground speed = 3.9 m/s
flare triggered = 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RESULTS · 6-DOF PROJECT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Scenario sweep — miss distances</a:t>
            </a:r>
          </a:p>
        </p:txBody>
      </p:sp>
      <p:pic>
        <p:nvPicPr>
          <p:cNvPr id="5" name="Picture 4" descr="sim_calm_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77840" cy="4183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33756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Calm: miss 20.2 m</a:t>
            </a:r>
          </a:p>
        </p:txBody>
      </p:sp>
      <p:pic>
        <p:nvPicPr>
          <p:cNvPr id="7" name="Picture 6" descr="sim_steady_wind_tr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88720"/>
            <a:ext cx="5577840" cy="4183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33756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Steady wind: miss 9.6 m</a:t>
            </a:r>
          </a:p>
        </p:txBody>
      </p:sp>
      <p:pic>
        <p:nvPicPr>
          <p:cNvPr id="9" name="Picture 8" descr="sim_shear_turbulence_tr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794760"/>
            <a:ext cx="5577840" cy="4183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94360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Shear + turbulence: miss 17.0 m</a:t>
            </a:r>
          </a:p>
        </p:txBody>
      </p:sp>
      <p:pic>
        <p:nvPicPr>
          <p:cNvPr id="11" name="Picture 10" descr="sim_strong_gusts_tr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794760"/>
            <a:ext cx="5577840" cy="41833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4360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Strong gusts: miss 22.9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28016" cy="128016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29260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5C8D6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2F6FA"/>
                </a:solidFill>
                <a:latin typeface="Calibri"/>
              </a:rPr>
              <a:t>What the math is saying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3566160" cy="219456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864" cy="219456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5C8D6"/>
                </a:solidFill>
                <a:latin typeface="Calibri"/>
              </a:rPr>
              <a:t>Transparent plant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3-DOF kinematics + fixed glide. Wind is the hard part, not aeroelasticity.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17320"/>
            <a:ext cx="3566160" cy="219456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54864" cy="219456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5C8D6"/>
                </a:solidFill>
                <a:latin typeface="Calibri"/>
              </a:rPr>
              <a:t>Estimate ≠ truth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ŵ is a lagged, noisy reconstruction held frozen in prediction.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417320"/>
            <a:ext cx="3566160" cy="2194560"/>
          </a:xfrm>
          <a:prstGeom prst="rect">
            <a:avLst/>
          </a:prstGeom>
          <a:solidFill>
            <a:srgbClr val="1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54864" cy="2194560"/>
          </a:xfrm>
          <a:prstGeom prst="rect">
            <a:avLst/>
          </a:prstGeom>
          <a:solidFill>
            <a:srgbClr val="35C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600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5C8D6"/>
                </a:solidFill>
                <a:latin typeface="Calibri"/>
              </a:rPr>
              <a:t>Replan absorbs mismatch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9BB0C4"/>
                </a:solidFill>
                <a:latin typeface="Calibri"/>
              </a:rPr>
              <a:t>Structural shear/gust error is acceptable if you replan every Tc.</a:t>
            </a:r>
          </a:p>
        </p:txBody>
      </p:sp>
      <p:pic>
        <p:nvPicPr>
          <p:cNvPr id="14" name="Picture 13" descr="rough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0"/>
            <a:ext cx="2335867" cy="228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0" y="3931920"/>
            <a:ext cx="7315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5C8D6"/>
                </a:solidFill>
                <a:latin typeface="Calibri"/>
              </a:rPr>
              <a:t>Sources in this deck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2F6FA"/>
                </a:solidFill>
                <a:latin typeface="Calibri"/>
              </a:rPr>
              <a:t>• Math: papers/parafoil_mpc_math.pdf  +  algo/mpc_v1/*.m
• Plots: regenerated by presentation/gen_math_assets.py
• Video / frames: parafoil_sim/output/steady_wind_flight.mp4
• 6-DOF results: parafoil_sim/output/*_flight.json
• Hardware sketch: rough sketch.png (project)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08857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Luna · Parafoil NMPC math  ·  source: papers/parafoil_mpc_math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82935" y="64739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B0C4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